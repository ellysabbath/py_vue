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1" r:id="rId1"/>
  </p:sldMasterIdLst>
  <p:notesMasterIdLst>
    <p:notesMasterId r:id="rId47"/>
  </p:notesMasterIdLst>
  <p:sldIdLst>
    <p:sldId id="309" r:id="rId2"/>
    <p:sldId id="404" r:id="rId3"/>
    <p:sldId id="258" r:id="rId4"/>
    <p:sldId id="434" r:id="rId5"/>
    <p:sldId id="432" r:id="rId6"/>
    <p:sldId id="462" r:id="rId7"/>
    <p:sldId id="463" r:id="rId8"/>
    <p:sldId id="464" r:id="rId9"/>
    <p:sldId id="465" r:id="rId10"/>
    <p:sldId id="466" r:id="rId11"/>
    <p:sldId id="468" r:id="rId12"/>
    <p:sldId id="469" r:id="rId13"/>
    <p:sldId id="470" r:id="rId14"/>
    <p:sldId id="472" r:id="rId15"/>
    <p:sldId id="473" r:id="rId16"/>
    <p:sldId id="263" r:id="rId17"/>
    <p:sldId id="453" r:id="rId18"/>
    <p:sldId id="264" r:id="rId19"/>
    <p:sldId id="444" r:id="rId20"/>
    <p:sldId id="454" r:id="rId21"/>
    <p:sldId id="358" r:id="rId22"/>
    <p:sldId id="419" r:id="rId23"/>
    <p:sldId id="359" r:id="rId24"/>
    <p:sldId id="438" r:id="rId25"/>
    <p:sldId id="439" r:id="rId26"/>
    <p:sldId id="441" r:id="rId27"/>
    <p:sldId id="443" r:id="rId28"/>
    <p:sldId id="442" r:id="rId29"/>
    <p:sldId id="436" r:id="rId30"/>
    <p:sldId id="446" r:id="rId31"/>
    <p:sldId id="445" r:id="rId32"/>
    <p:sldId id="418" r:id="rId33"/>
    <p:sldId id="447" r:id="rId34"/>
    <p:sldId id="449" r:id="rId35"/>
    <p:sldId id="450" r:id="rId36"/>
    <p:sldId id="448" r:id="rId37"/>
    <p:sldId id="451" r:id="rId38"/>
    <p:sldId id="452" r:id="rId39"/>
    <p:sldId id="427" r:id="rId40"/>
    <p:sldId id="279" r:id="rId41"/>
    <p:sldId id="456" r:id="rId42"/>
    <p:sldId id="457" r:id="rId43"/>
    <p:sldId id="458" r:id="rId44"/>
    <p:sldId id="307" r:id="rId45"/>
    <p:sldId id="308" r:id="rId46"/>
  </p:sldIdLst>
  <p:sldSz cx="9144000" cy="5715000" type="screen16x10"/>
  <p:notesSz cx="6797675" cy="9928225"/>
  <p:embeddedFontLst>
    <p:embeddedFont>
      <p:font typeface="Verdana" panose="020B0604030504040204" pitchFamily="34" charset="0"/>
      <p:regular r:id="rId48"/>
      <p:bold r:id="rId49"/>
      <p:italic r:id="rId50"/>
      <p:boldItalic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80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000000"/>
          </p15:clr>
        </p15:guide>
        <p15:guide id="2" pos="2141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020" y="-8"/>
      </p:cViewPr>
      <p:guideLst>
        <p:guide orient="horz" pos="180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3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1.fntdata"/><Relationship Id="rId8" Type="http://schemas.openxmlformats.org/officeDocument/2006/relationships/slide" Target="slides/slide7.xml"/><Relationship Id="rId51" Type="http://schemas.openxmlformats.org/officeDocument/2006/relationships/font" Target="fonts/font4.fnt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75" tIns="49175" rIns="98375" bIns="491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49687" y="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75" tIns="49175" rIns="98375" bIns="491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20687" y="742950"/>
            <a:ext cx="59563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1037" y="4716462"/>
            <a:ext cx="5435600" cy="4468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75" tIns="49175" rIns="98375" bIns="4917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31337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75" tIns="49175" rIns="98375" bIns="4917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49687" y="9431337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75" tIns="49175" rIns="98375" bIns="491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20688" y="742950"/>
            <a:ext cx="5956300" cy="3722688"/>
          </a:xfrm>
          <a:ln/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/>
              <a:t>Agenda</a:t>
            </a:r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CBB95D-6C16-4109-89E7-4109AAA4500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>
            <a:spLocks noGrp="1"/>
          </p:cNvSpPr>
          <p:nvPr>
            <p:ph type="body" idx="1"/>
          </p:nvPr>
        </p:nvSpPr>
        <p:spPr>
          <a:xfrm>
            <a:off x="681037" y="4716462"/>
            <a:ext cx="5435600" cy="4468812"/>
          </a:xfrm>
          <a:prstGeom prst="rect">
            <a:avLst/>
          </a:prstGeom>
        </p:spPr>
        <p:txBody>
          <a:bodyPr spcFirstLastPara="1" wrap="square" lIns="98375" tIns="49175" rIns="98375" bIns="49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42950"/>
            <a:ext cx="5956300" cy="3722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>
            <a:spLocks noGrp="1"/>
          </p:cNvSpPr>
          <p:nvPr>
            <p:ph type="body" idx="1"/>
          </p:nvPr>
        </p:nvSpPr>
        <p:spPr>
          <a:xfrm>
            <a:off x="681037" y="4716462"/>
            <a:ext cx="5435600" cy="4468812"/>
          </a:xfrm>
          <a:prstGeom prst="rect">
            <a:avLst/>
          </a:prstGeom>
        </p:spPr>
        <p:txBody>
          <a:bodyPr spcFirstLastPara="1" wrap="square" lIns="98375" tIns="49175" rIns="98375" bIns="49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42950"/>
            <a:ext cx="5956300" cy="3722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>
            <a:spLocks noGrp="1"/>
          </p:cNvSpPr>
          <p:nvPr>
            <p:ph type="body" idx="1"/>
          </p:nvPr>
        </p:nvSpPr>
        <p:spPr>
          <a:xfrm>
            <a:off x="681037" y="4716462"/>
            <a:ext cx="5435600" cy="4468812"/>
          </a:xfrm>
          <a:prstGeom prst="rect">
            <a:avLst/>
          </a:prstGeom>
        </p:spPr>
        <p:txBody>
          <a:bodyPr spcFirstLastPara="1" wrap="square" lIns="98375" tIns="49175" rIns="98375" bIns="49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42950"/>
            <a:ext cx="5956300" cy="3722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6b299957c0_0_12:notes"/>
          <p:cNvSpPr txBox="1">
            <a:spLocks noGrp="1"/>
          </p:cNvSpPr>
          <p:nvPr>
            <p:ph type="body" idx="1"/>
          </p:nvPr>
        </p:nvSpPr>
        <p:spPr>
          <a:xfrm>
            <a:off x="681037" y="4716462"/>
            <a:ext cx="5435700" cy="4468800"/>
          </a:xfrm>
          <a:prstGeom prst="rect">
            <a:avLst/>
          </a:prstGeom>
        </p:spPr>
        <p:txBody>
          <a:bodyPr spcFirstLastPara="1" wrap="square" lIns="98375" tIns="49175" rIns="98375" bIns="49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g6b299957c0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42950"/>
            <a:ext cx="5956300" cy="3722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71945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>
            <a:spLocks noGrp="1"/>
          </p:cNvSpPr>
          <p:nvPr>
            <p:ph type="body" idx="1"/>
          </p:nvPr>
        </p:nvSpPr>
        <p:spPr>
          <a:xfrm>
            <a:off x="681037" y="4716462"/>
            <a:ext cx="5435600" cy="4468812"/>
          </a:xfrm>
          <a:prstGeom prst="rect">
            <a:avLst/>
          </a:prstGeom>
        </p:spPr>
        <p:txBody>
          <a:bodyPr spcFirstLastPara="1" wrap="square" lIns="98375" tIns="49175" rIns="98375" bIns="49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2" name="Google Shape;1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42950"/>
            <a:ext cx="5956300" cy="3722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32550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>
            <a:spLocks noGrp="1"/>
          </p:cNvSpPr>
          <p:nvPr>
            <p:ph type="body" idx="1"/>
          </p:nvPr>
        </p:nvSpPr>
        <p:spPr>
          <a:xfrm>
            <a:off x="681037" y="4716462"/>
            <a:ext cx="5435600" cy="4468812"/>
          </a:xfrm>
          <a:prstGeom prst="rect">
            <a:avLst/>
          </a:prstGeom>
        </p:spPr>
        <p:txBody>
          <a:bodyPr spcFirstLastPara="1" wrap="square" lIns="98375" tIns="49175" rIns="98375" bIns="49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42950"/>
            <a:ext cx="5956300" cy="3722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902430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6b299957c0_0_12:notes"/>
          <p:cNvSpPr txBox="1">
            <a:spLocks noGrp="1"/>
          </p:cNvSpPr>
          <p:nvPr>
            <p:ph type="body" idx="1"/>
          </p:nvPr>
        </p:nvSpPr>
        <p:spPr>
          <a:xfrm>
            <a:off x="681037" y="4716462"/>
            <a:ext cx="5435700" cy="4468800"/>
          </a:xfrm>
          <a:prstGeom prst="rect">
            <a:avLst/>
          </a:prstGeom>
        </p:spPr>
        <p:txBody>
          <a:bodyPr spcFirstLastPara="1" wrap="square" lIns="98375" tIns="49175" rIns="98375" bIns="49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6" name="Google Shape;306;g6b299957c0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42950"/>
            <a:ext cx="5956300" cy="3722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83096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6b299957c0_0_12:notes"/>
          <p:cNvSpPr txBox="1">
            <a:spLocks noGrp="1"/>
          </p:cNvSpPr>
          <p:nvPr>
            <p:ph type="body" idx="1"/>
          </p:nvPr>
        </p:nvSpPr>
        <p:spPr>
          <a:xfrm>
            <a:off x="681037" y="4716462"/>
            <a:ext cx="5435700" cy="4468800"/>
          </a:xfrm>
          <a:prstGeom prst="rect">
            <a:avLst/>
          </a:prstGeom>
        </p:spPr>
        <p:txBody>
          <a:bodyPr spcFirstLastPara="1" wrap="square" lIns="98375" tIns="49175" rIns="98375" bIns="49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6" name="Google Shape;306;g6b299957c0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42950"/>
            <a:ext cx="5956300" cy="3722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17386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>
            <a:spLocks noGrp="1"/>
          </p:cNvSpPr>
          <p:nvPr>
            <p:ph type="body" idx="1"/>
          </p:nvPr>
        </p:nvSpPr>
        <p:spPr>
          <a:xfrm>
            <a:off x="681037" y="4716462"/>
            <a:ext cx="5435600" cy="4468812"/>
          </a:xfrm>
          <a:prstGeom prst="rect">
            <a:avLst/>
          </a:prstGeom>
        </p:spPr>
        <p:txBody>
          <a:bodyPr spcFirstLastPara="1" wrap="square" lIns="98375" tIns="49175" rIns="98375" bIns="49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42950"/>
            <a:ext cx="5956300" cy="3722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46010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8:notes"/>
          <p:cNvSpPr txBox="1">
            <a:spLocks noGrp="1"/>
          </p:cNvSpPr>
          <p:nvPr>
            <p:ph type="body" idx="1"/>
          </p:nvPr>
        </p:nvSpPr>
        <p:spPr>
          <a:xfrm>
            <a:off x="681037" y="4716462"/>
            <a:ext cx="5435600" cy="4468812"/>
          </a:xfrm>
          <a:prstGeom prst="rect">
            <a:avLst/>
          </a:prstGeom>
        </p:spPr>
        <p:txBody>
          <a:bodyPr spcFirstLastPara="1" wrap="square" lIns="98375" tIns="49175" rIns="98375" bIns="49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42950"/>
            <a:ext cx="5956300" cy="3722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060030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8:notes"/>
          <p:cNvSpPr txBox="1">
            <a:spLocks noGrp="1"/>
          </p:cNvSpPr>
          <p:nvPr>
            <p:ph type="body" idx="1"/>
          </p:nvPr>
        </p:nvSpPr>
        <p:spPr>
          <a:xfrm>
            <a:off x="681037" y="4716462"/>
            <a:ext cx="5435600" cy="4468812"/>
          </a:xfrm>
          <a:prstGeom prst="rect">
            <a:avLst/>
          </a:prstGeom>
        </p:spPr>
        <p:txBody>
          <a:bodyPr spcFirstLastPara="1" wrap="square" lIns="98375" tIns="49175" rIns="98375" bIns="49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42950"/>
            <a:ext cx="5956300" cy="3722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530313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0:notes"/>
          <p:cNvSpPr txBox="1">
            <a:spLocks noGrp="1"/>
          </p:cNvSpPr>
          <p:nvPr>
            <p:ph type="body" idx="1"/>
          </p:nvPr>
        </p:nvSpPr>
        <p:spPr>
          <a:xfrm>
            <a:off x="681037" y="4716462"/>
            <a:ext cx="5435600" cy="4468812"/>
          </a:xfrm>
          <a:prstGeom prst="rect">
            <a:avLst/>
          </a:prstGeom>
        </p:spPr>
        <p:txBody>
          <a:bodyPr spcFirstLastPara="1" wrap="square" lIns="98375" tIns="49175" rIns="98375" bIns="49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42950"/>
            <a:ext cx="5956300" cy="3722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546565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>
            <a:extLst>
              <a:ext uri="{FF2B5EF4-FFF2-40B4-BE49-F238E27FC236}">
                <a16:creationId xmlns:a16="http://schemas.microsoft.com/office/drawing/2014/main" id="{FB2F5129-8EBC-E427-B854-7D4E101D7DD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420688" y="742950"/>
            <a:ext cx="5956300" cy="37226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>
            <a:extLst>
              <a:ext uri="{FF2B5EF4-FFF2-40B4-BE49-F238E27FC236}">
                <a16:creationId xmlns:a16="http://schemas.microsoft.com/office/drawing/2014/main" id="{CCF0FD82-8493-5118-98F3-1146B79C98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sw-KE" altLang="en-US"/>
          </a:p>
        </p:txBody>
      </p:sp>
      <p:sp>
        <p:nvSpPr>
          <p:cNvPr id="50180" name="Slide Number Placeholder 3">
            <a:extLst>
              <a:ext uri="{FF2B5EF4-FFF2-40B4-BE49-F238E27FC236}">
                <a16:creationId xmlns:a16="http://schemas.microsoft.com/office/drawing/2014/main" id="{68BE1727-6FA5-3CC5-FACA-860766F58C14}"/>
              </a:ext>
            </a:extLst>
          </p:cNvPr>
          <p:cNvSpPr txBox="1">
            <a:spLocks noGrp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90" tIns="47795" rIns="95590" bIns="47795" anchor="b"/>
          <a:lstStyle>
            <a:lvl1pPr defTabSz="571500">
              <a:spcBef>
                <a:spcPct val="30000"/>
              </a:spcBef>
              <a:defRPr sz="7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571500">
              <a:spcBef>
                <a:spcPct val="30000"/>
              </a:spcBef>
              <a:defRPr sz="7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571500">
              <a:spcBef>
                <a:spcPct val="30000"/>
              </a:spcBef>
              <a:defRPr sz="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571500">
              <a:spcBef>
                <a:spcPct val="30000"/>
              </a:spcBef>
              <a:defRPr sz="7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571500">
              <a:spcBef>
                <a:spcPct val="30000"/>
              </a:spcBef>
              <a:defRPr sz="7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571500" eaLnBrk="0" fontAlgn="base" hangingPunct="0">
              <a:spcBef>
                <a:spcPct val="3000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571500" eaLnBrk="0" fontAlgn="base" hangingPunct="0">
              <a:spcBef>
                <a:spcPct val="3000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571500" eaLnBrk="0" fontAlgn="base" hangingPunct="0">
              <a:spcBef>
                <a:spcPct val="3000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571500" eaLnBrk="0" fontAlgn="base" hangingPunct="0">
              <a:spcBef>
                <a:spcPct val="3000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205E386-E3A5-4978-9EE3-DD7BCBC1A052}" type="slidenum">
              <a:rPr lang="en-US" altLang="en-US" sz="1300" u="none"/>
              <a:pPr algn="r" eaLnBrk="1" hangingPunct="1">
                <a:spcBef>
                  <a:spcPct val="0"/>
                </a:spcBef>
              </a:pPr>
              <a:t>15</a:t>
            </a:fld>
            <a:endParaRPr lang="en-US" altLang="en-US" sz="1300" u="none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 txBox="1">
            <a:spLocks noGrp="1"/>
          </p:cNvSpPr>
          <p:nvPr>
            <p:ph type="body" idx="1"/>
          </p:nvPr>
        </p:nvSpPr>
        <p:spPr>
          <a:xfrm>
            <a:off x="681037" y="4716462"/>
            <a:ext cx="5435600" cy="4468812"/>
          </a:xfrm>
          <a:prstGeom prst="rect">
            <a:avLst/>
          </a:prstGeom>
        </p:spPr>
        <p:txBody>
          <a:bodyPr spcFirstLastPara="1" wrap="square" lIns="98375" tIns="49175" rIns="98375" bIns="49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42950"/>
            <a:ext cx="5956300" cy="3722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188"/>
          <p:cNvSpPr>
            <a:spLocks noGrp="1" noRot="1" noChangeAspect="1"/>
          </p:cNvSpPr>
          <p:nvPr>
            <p:ph type="sldImg"/>
          </p:nvPr>
        </p:nvSpPr>
        <p:spPr>
          <a:xfrm>
            <a:off x="420688" y="744538"/>
            <a:ext cx="5956300" cy="3722687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89" name="Shape 18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lang="de-DE" sz="2200" dirty="0" err="1"/>
              <a:t>Before</a:t>
            </a:r>
            <a:r>
              <a:rPr lang="de-DE" sz="2200" dirty="0"/>
              <a:t> </a:t>
            </a:r>
            <a:r>
              <a:rPr lang="de-DE" sz="2200" dirty="0" err="1"/>
              <a:t>you</a:t>
            </a:r>
            <a:r>
              <a:rPr lang="de-DE" sz="2200" dirty="0"/>
              <a:t> </a:t>
            </a:r>
            <a:r>
              <a:rPr lang="de-DE" sz="2200" dirty="0" err="1"/>
              <a:t>can</a:t>
            </a:r>
            <a:r>
              <a:rPr lang="de-DE" sz="2200" dirty="0"/>
              <a:t> </a:t>
            </a:r>
            <a:r>
              <a:rPr lang="de-DE" sz="2200" dirty="0" err="1"/>
              <a:t>work</a:t>
            </a:r>
            <a:r>
              <a:rPr lang="de-DE" sz="2200" dirty="0"/>
              <a:t> </a:t>
            </a:r>
            <a:r>
              <a:rPr lang="de-DE" sz="2200" dirty="0" err="1"/>
              <a:t>solution-oriented</a:t>
            </a:r>
            <a:r>
              <a:rPr lang="de-DE" sz="2200" dirty="0"/>
              <a:t>, </a:t>
            </a:r>
            <a:r>
              <a:rPr lang="de-DE" sz="2200" dirty="0" err="1"/>
              <a:t>you</a:t>
            </a:r>
            <a:r>
              <a:rPr lang="de-DE" sz="2200" dirty="0"/>
              <a:t> </a:t>
            </a:r>
            <a:r>
              <a:rPr lang="de-DE" sz="2200" dirty="0" err="1"/>
              <a:t>need</a:t>
            </a:r>
            <a:r>
              <a:rPr lang="de-DE" sz="2200" dirty="0"/>
              <a:t> </a:t>
            </a:r>
            <a:r>
              <a:rPr lang="de-DE" sz="2200" dirty="0" err="1"/>
              <a:t>to</a:t>
            </a:r>
            <a:r>
              <a:rPr lang="de-DE" sz="2200" dirty="0"/>
              <a:t> do </a:t>
            </a:r>
            <a:r>
              <a:rPr lang="de-DE" sz="2200" dirty="0" err="1"/>
              <a:t>work</a:t>
            </a:r>
            <a:r>
              <a:rPr lang="de-DE" sz="2200" dirty="0"/>
              <a:t> problem-</a:t>
            </a:r>
            <a:r>
              <a:rPr lang="de-DE" sz="2200" dirty="0" err="1"/>
              <a:t>oriented</a:t>
            </a:r>
            <a:r>
              <a:rPr lang="de-DE" sz="2200" dirty="0"/>
              <a:t>!</a:t>
            </a:r>
            <a:endParaRPr sz="2200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>
            <a:spLocks noGrp="1"/>
          </p:cNvSpPr>
          <p:nvPr>
            <p:ph type="body" idx="1"/>
          </p:nvPr>
        </p:nvSpPr>
        <p:spPr>
          <a:xfrm>
            <a:off x="681037" y="4716462"/>
            <a:ext cx="5435600" cy="4468812"/>
          </a:xfrm>
          <a:prstGeom prst="rect">
            <a:avLst/>
          </a:prstGeom>
        </p:spPr>
        <p:txBody>
          <a:bodyPr spcFirstLastPara="1" wrap="square" lIns="98375" tIns="49175" rIns="98375" bIns="49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42950"/>
            <a:ext cx="5956300" cy="3722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>
            <a:spLocks noGrp="1"/>
          </p:cNvSpPr>
          <p:nvPr>
            <p:ph type="body" idx="1"/>
          </p:nvPr>
        </p:nvSpPr>
        <p:spPr>
          <a:xfrm>
            <a:off x="681037" y="4716462"/>
            <a:ext cx="5435600" cy="4468812"/>
          </a:xfrm>
          <a:prstGeom prst="rect">
            <a:avLst/>
          </a:prstGeom>
        </p:spPr>
        <p:txBody>
          <a:bodyPr spcFirstLastPara="1" wrap="square" lIns="98375" tIns="49175" rIns="98375" bIns="49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42950"/>
            <a:ext cx="5956300" cy="3722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>
            <a:spLocks noGrp="1"/>
          </p:cNvSpPr>
          <p:nvPr>
            <p:ph type="body" idx="1"/>
          </p:nvPr>
        </p:nvSpPr>
        <p:spPr>
          <a:xfrm>
            <a:off x="681037" y="4716462"/>
            <a:ext cx="5435600" cy="4468812"/>
          </a:xfrm>
          <a:prstGeom prst="rect">
            <a:avLst/>
          </a:prstGeom>
        </p:spPr>
        <p:txBody>
          <a:bodyPr spcFirstLastPara="1" wrap="square" lIns="98375" tIns="49175" rIns="98375" bIns="49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42950"/>
            <a:ext cx="5956300" cy="3722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>
            <a:spLocks noGrp="1"/>
          </p:cNvSpPr>
          <p:nvPr>
            <p:ph type="body" idx="1"/>
          </p:nvPr>
        </p:nvSpPr>
        <p:spPr>
          <a:xfrm>
            <a:off x="681037" y="4716462"/>
            <a:ext cx="5435600" cy="4468812"/>
          </a:xfrm>
          <a:prstGeom prst="rect">
            <a:avLst/>
          </a:prstGeom>
        </p:spPr>
        <p:txBody>
          <a:bodyPr spcFirstLastPara="1" wrap="square" lIns="98375" tIns="49175" rIns="98375" bIns="49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42950"/>
            <a:ext cx="5956300" cy="3722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 txBox="1">
            <a:spLocks noGrp="1"/>
          </p:cNvSpPr>
          <p:nvPr>
            <p:ph type="body" idx="1"/>
          </p:nvPr>
        </p:nvSpPr>
        <p:spPr>
          <a:xfrm>
            <a:off x="681037" y="4716462"/>
            <a:ext cx="5435600" cy="4468812"/>
          </a:xfrm>
          <a:prstGeom prst="rect">
            <a:avLst/>
          </a:prstGeom>
        </p:spPr>
        <p:txBody>
          <a:bodyPr spcFirstLastPara="1" wrap="square" lIns="98375" tIns="49175" rIns="98375" bIns="49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42950"/>
            <a:ext cx="5956300" cy="3722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>
            <a:spLocks noGrp="1"/>
          </p:cNvSpPr>
          <p:nvPr>
            <p:ph type="body" idx="1"/>
          </p:nvPr>
        </p:nvSpPr>
        <p:spPr>
          <a:xfrm>
            <a:off x="681037" y="4716462"/>
            <a:ext cx="5435600" cy="4468812"/>
          </a:xfrm>
          <a:prstGeom prst="rect">
            <a:avLst/>
          </a:prstGeom>
        </p:spPr>
        <p:txBody>
          <a:bodyPr spcFirstLastPara="1" wrap="square" lIns="98375" tIns="49175" rIns="98375" bIns="49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42950"/>
            <a:ext cx="5956300" cy="3722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>
            <a:spLocks noGrp="1"/>
          </p:cNvSpPr>
          <p:nvPr>
            <p:ph type="body" idx="1"/>
          </p:nvPr>
        </p:nvSpPr>
        <p:spPr>
          <a:xfrm>
            <a:off x="681037" y="4716462"/>
            <a:ext cx="5435600" cy="4468812"/>
          </a:xfrm>
          <a:prstGeom prst="rect">
            <a:avLst/>
          </a:prstGeom>
        </p:spPr>
        <p:txBody>
          <a:bodyPr spcFirstLastPara="1" wrap="square" lIns="98375" tIns="49175" rIns="98375" bIns="49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42950"/>
            <a:ext cx="5956300" cy="3722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>
            <a:spLocks noGrp="1"/>
          </p:cNvSpPr>
          <p:nvPr>
            <p:ph type="body" idx="1"/>
          </p:nvPr>
        </p:nvSpPr>
        <p:spPr>
          <a:xfrm>
            <a:off x="681037" y="4716462"/>
            <a:ext cx="5435600" cy="4468812"/>
          </a:xfrm>
          <a:prstGeom prst="rect">
            <a:avLst/>
          </a:prstGeom>
        </p:spPr>
        <p:txBody>
          <a:bodyPr spcFirstLastPara="1" wrap="square" lIns="98375" tIns="49175" rIns="98375" bIns="49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42950"/>
            <a:ext cx="5956300" cy="3722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>
            <a:spLocks noGrp="1"/>
          </p:cNvSpPr>
          <p:nvPr>
            <p:ph type="body" idx="1"/>
          </p:nvPr>
        </p:nvSpPr>
        <p:spPr>
          <a:xfrm>
            <a:off x="681037" y="4716462"/>
            <a:ext cx="5435600" cy="4468812"/>
          </a:xfrm>
          <a:prstGeom prst="rect">
            <a:avLst/>
          </a:prstGeom>
        </p:spPr>
        <p:txBody>
          <a:bodyPr spcFirstLastPara="1" wrap="square" lIns="98375" tIns="49175" rIns="98375" bIns="49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42950"/>
            <a:ext cx="5956300" cy="3722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>
            <a:spLocks noGrp="1"/>
          </p:cNvSpPr>
          <p:nvPr>
            <p:ph type="body" idx="1"/>
          </p:nvPr>
        </p:nvSpPr>
        <p:spPr>
          <a:xfrm>
            <a:off x="681037" y="4716462"/>
            <a:ext cx="5435600" cy="4468812"/>
          </a:xfrm>
          <a:prstGeom prst="rect">
            <a:avLst/>
          </a:prstGeom>
        </p:spPr>
        <p:txBody>
          <a:bodyPr spcFirstLastPara="1" wrap="square" lIns="98375" tIns="49175" rIns="98375" bIns="49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42950"/>
            <a:ext cx="5956300" cy="3722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>
            <a:spLocks noGrp="1"/>
          </p:cNvSpPr>
          <p:nvPr>
            <p:ph type="body" idx="1"/>
          </p:nvPr>
        </p:nvSpPr>
        <p:spPr>
          <a:xfrm>
            <a:off x="681037" y="4716462"/>
            <a:ext cx="5435600" cy="4468812"/>
          </a:xfrm>
          <a:prstGeom prst="rect">
            <a:avLst/>
          </a:prstGeom>
        </p:spPr>
        <p:txBody>
          <a:bodyPr spcFirstLastPara="1" wrap="square" lIns="98375" tIns="49175" rIns="98375" bIns="49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42950"/>
            <a:ext cx="5956300" cy="3722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 txBox="1">
            <a:spLocks noGrp="1"/>
          </p:cNvSpPr>
          <p:nvPr>
            <p:ph type="body" idx="1"/>
          </p:nvPr>
        </p:nvSpPr>
        <p:spPr>
          <a:xfrm>
            <a:off x="681037" y="4716462"/>
            <a:ext cx="5435600" cy="4468812"/>
          </a:xfrm>
          <a:prstGeom prst="rect">
            <a:avLst/>
          </a:prstGeom>
        </p:spPr>
        <p:txBody>
          <a:bodyPr spcFirstLastPara="1" wrap="square" lIns="98375" tIns="49175" rIns="98375" bIns="49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42950"/>
            <a:ext cx="5956300" cy="3722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>
            <a:spLocks noGrp="1"/>
          </p:cNvSpPr>
          <p:nvPr>
            <p:ph type="body" idx="1"/>
          </p:nvPr>
        </p:nvSpPr>
        <p:spPr>
          <a:xfrm>
            <a:off x="681037" y="4716462"/>
            <a:ext cx="5435600" cy="4468812"/>
          </a:xfrm>
          <a:prstGeom prst="rect">
            <a:avLst/>
          </a:prstGeom>
        </p:spPr>
        <p:txBody>
          <a:bodyPr spcFirstLastPara="1" wrap="square" lIns="98375" tIns="49175" rIns="98375" bIns="49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2" name="Google Shape;1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42950"/>
            <a:ext cx="5956300" cy="3722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>
            <a:spLocks noGrp="1"/>
          </p:cNvSpPr>
          <p:nvPr>
            <p:ph type="body" idx="1"/>
          </p:nvPr>
        </p:nvSpPr>
        <p:spPr>
          <a:xfrm>
            <a:off x="681037" y="4716462"/>
            <a:ext cx="5435600" cy="4468812"/>
          </a:xfrm>
          <a:prstGeom prst="rect">
            <a:avLst/>
          </a:prstGeom>
        </p:spPr>
        <p:txBody>
          <a:bodyPr spcFirstLastPara="1" wrap="square" lIns="98375" tIns="49175" rIns="98375" bIns="49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42950"/>
            <a:ext cx="5956300" cy="3722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>
            <a:spLocks noGrp="1"/>
          </p:cNvSpPr>
          <p:nvPr>
            <p:ph type="body" idx="1"/>
          </p:nvPr>
        </p:nvSpPr>
        <p:spPr>
          <a:xfrm>
            <a:off x="681037" y="4716462"/>
            <a:ext cx="5435600" cy="4468812"/>
          </a:xfrm>
          <a:prstGeom prst="rect">
            <a:avLst/>
          </a:prstGeom>
        </p:spPr>
        <p:txBody>
          <a:bodyPr spcFirstLastPara="1" wrap="square" lIns="98375" tIns="49175" rIns="98375" bIns="49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42950"/>
            <a:ext cx="5956300" cy="3722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>
            <a:spLocks noGrp="1"/>
          </p:cNvSpPr>
          <p:nvPr>
            <p:ph type="body" idx="1"/>
          </p:nvPr>
        </p:nvSpPr>
        <p:spPr>
          <a:xfrm>
            <a:off x="681037" y="4716462"/>
            <a:ext cx="5435600" cy="4468812"/>
          </a:xfrm>
          <a:prstGeom prst="rect">
            <a:avLst/>
          </a:prstGeom>
        </p:spPr>
        <p:txBody>
          <a:bodyPr spcFirstLastPara="1" wrap="square" lIns="98375" tIns="49175" rIns="98375" bIns="49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42950"/>
            <a:ext cx="5956300" cy="3722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>
            <a:spLocks noGrp="1"/>
          </p:cNvSpPr>
          <p:nvPr>
            <p:ph type="body" idx="1"/>
          </p:nvPr>
        </p:nvSpPr>
        <p:spPr>
          <a:xfrm>
            <a:off x="681037" y="4716462"/>
            <a:ext cx="5435600" cy="4468812"/>
          </a:xfrm>
          <a:prstGeom prst="rect">
            <a:avLst/>
          </a:prstGeom>
        </p:spPr>
        <p:txBody>
          <a:bodyPr spcFirstLastPara="1" wrap="square" lIns="98375" tIns="49175" rIns="98375" bIns="49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42950"/>
            <a:ext cx="5956300" cy="3722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>
            <a:spLocks noGrp="1"/>
          </p:cNvSpPr>
          <p:nvPr>
            <p:ph type="body" idx="1"/>
          </p:nvPr>
        </p:nvSpPr>
        <p:spPr>
          <a:xfrm>
            <a:off x="681037" y="4716462"/>
            <a:ext cx="5435600" cy="4468812"/>
          </a:xfrm>
          <a:prstGeom prst="rect">
            <a:avLst/>
          </a:prstGeom>
        </p:spPr>
        <p:txBody>
          <a:bodyPr spcFirstLastPara="1" wrap="square" lIns="98375" tIns="49175" rIns="98375" bIns="49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42950"/>
            <a:ext cx="5956300" cy="3722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>
            <a:spLocks noGrp="1"/>
          </p:cNvSpPr>
          <p:nvPr>
            <p:ph type="body" idx="1"/>
          </p:nvPr>
        </p:nvSpPr>
        <p:spPr>
          <a:xfrm>
            <a:off x="681037" y="4716462"/>
            <a:ext cx="5435600" cy="4468812"/>
          </a:xfrm>
          <a:prstGeom prst="rect">
            <a:avLst/>
          </a:prstGeom>
        </p:spPr>
        <p:txBody>
          <a:bodyPr spcFirstLastPara="1" wrap="square" lIns="98375" tIns="49175" rIns="98375" bIns="49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42950"/>
            <a:ext cx="5956300" cy="3722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>
            <a:spLocks noGrp="1"/>
          </p:cNvSpPr>
          <p:nvPr>
            <p:ph type="body" idx="1"/>
          </p:nvPr>
        </p:nvSpPr>
        <p:spPr>
          <a:xfrm>
            <a:off x="681037" y="4716462"/>
            <a:ext cx="5435600" cy="4468812"/>
          </a:xfrm>
          <a:prstGeom prst="rect">
            <a:avLst/>
          </a:prstGeom>
        </p:spPr>
        <p:txBody>
          <a:bodyPr spcFirstLastPara="1" wrap="square" lIns="98375" tIns="49175" rIns="98375" bIns="49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2" name="Google Shape;1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42950"/>
            <a:ext cx="5956300" cy="3722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>
            <a:spLocks noGrp="1"/>
          </p:cNvSpPr>
          <p:nvPr>
            <p:ph type="body" idx="1"/>
          </p:nvPr>
        </p:nvSpPr>
        <p:spPr>
          <a:xfrm>
            <a:off x="681037" y="4716462"/>
            <a:ext cx="5435600" cy="4468812"/>
          </a:xfrm>
          <a:prstGeom prst="rect">
            <a:avLst/>
          </a:prstGeom>
        </p:spPr>
        <p:txBody>
          <a:bodyPr spcFirstLastPara="1" wrap="square" lIns="98375" tIns="49175" rIns="98375" bIns="49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2" name="Google Shape;1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42950"/>
            <a:ext cx="5956300" cy="3722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342144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>
            <a:spLocks noGrp="1"/>
          </p:cNvSpPr>
          <p:nvPr>
            <p:ph type="body" idx="1"/>
          </p:nvPr>
        </p:nvSpPr>
        <p:spPr>
          <a:xfrm>
            <a:off x="681037" y="4716462"/>
            <a:ext cx="5435600" cy="4468812"/>
          </a:xfrm>
          <a:prstGeom prst="rect">
            <a:avLst/>
          </a:prstGeom>
        </p:spPr>
        <p:txBody>
          <a:bodyPr spcFirstLastPara="1" wrap="square" lIns="98375" tIns="49175" rIns="98375" bIns="49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2" name="Google Shape;1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42950"/>
            <a:ext cx="5956300" cy="3722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342144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3:notes"/>
          <p:cNvSpPr txBox="1">
            <a:spLocks noGrp="1"/>
          </p:cNvSpPr>
          <p:nvPr>
            <p:ph type="body" idx="1"/>
          </p:nvPr>
        </p:nvSpPr>
        <p:spPr>
          <a:xfrm>
            <a:off x="681037" y="4716462"/>
            <a:ext cx="5435600" cy="4468812"/>
          </a:xfrm>
          <a:prstGeom prst="rect">
            <a:avLst/>
          </a:prstGeom>
        </p:spPr>
        <p:txBody>
          <a:bodyPr spcFirstLastPara="1" wrap="square" lIns="98375" tIns="49175" rIns="98375" bIns="49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42950"/>
            <a:ext cx="5956300" cy="3722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>
            <a:spLocks noGrp="1"/>
          </p:cNvSpPr>
          <p:nvPr>
            <p:ph type="body" idx="1"/>
          </p:nvPr>
        </p:nvSpPr>
        <p:spPr>
          <a:xfrm>
            <a:off x="681037" y="4716462"/>
            <a:ext cx="5435600" cy="4468812"/>
          </a:xfrm>
          <a:prstGeom prst="rect">
            <a:avLst/>
          </a:prstGeom>
        </p:spPr>
        <p:txBody>
          <a:bodyPr spcFirstLastPara="1" wrap="square" lIns="98375" tIns="49175" rIns="98375" bIns="49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2" name="Google Shape;1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42950"/>
            <a:ext cx="5956300" cy="3722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>
            <a:spLocks noGrp="1"/>
          </p:cNvSpPr>
          <p:nvPr>
            <p:ph type="body" idx="1"/>
          </p:nvPr>
        </p:nvSpPr>
        <p:spPr>
          <a:xfrm>
            <a:off x="681037" y="4716462"/>
            <a:ext cx="5435600" cy="4468812"/>
          </a:xfrm>
          <a:prstGeom prst="rect">
            <a:avLst/>
          </a:prstGeom>
        </p:spPr>
        <p:txBody>
          <a:bodyPr spcFirstLastPara="1" wrap="square" lIns="98375" tIns="49175" rIns="98375" bIns="49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42950"/>
            <a:ext cx="5956300" cy="3722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>
            <a:spLocks noGrp="1"/>
          </p:cNvSpPr>
          <p:nvPr>
            <p:ph type="body" idx="1"/>
          </p:nvPr>
        </p:nvSpPr>
        <p:spPr>
          <a:xfrm>
            <a:off x="681037" y="4716462"/>
            <a:ext cx="5435600" cy="4468812"/>
          </a:xfrm>
          <a:prstGeom prst="rect">
            <a:avLst/>
          </a:prstGeom>
        </p:spPr>
        <p:txBody>
          <a:bodyPr spcFirstLastPara="1" wrap="square" lIns="98375" tIns="49175" rIns="98375" bIns="49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42950"/>
            <a:ext cx="5956300" cy="3722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6:notes"/>
          <p:cNvSpPr txBox="1">
            <a:spLocks noGrp="1"/>
          </p:cNvSpPr>
          <p:nvPr>
            <p:ph type="body" idx="1"/>
          </p:nvPr>
        </p:nvSpPr>
        <p:spPr>
          <a:xfrm>
            <a:off x="681037" y="4716462"/>
            <a:ext cx="5435600" cy="4468812"/>
          </a:xfrm>
          <a:prstGeom prst="rect">
            <a:avLst/>
          </a:prstGeom>
        </p:spPr>
        <p:txBody>
          <a:bodyPr spcFirstLastPara="1" wrap="square" lIns="98375" tIns="49175" rIns="98375" bIns="49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42950"/>
            <a:ext cx="5956300" cy="3722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47:notes"/>
          <p:cNvSpPr txBox="1">
            <a:spLocks noGrp="1"/>
          </p:cNvSpPr>
          <p:nvPr>
            <p:ph type="body" idx="1"/>
          </p:nvPr>
        </p:nvSpPr>
        <p:spPr>
          <a:xfrm>
            <a:off x="681037" y="4716462"/>
            <a:ext cx="5435600" cy="4468812"/>
          </a:xfrm>
          <a:prstGeom prst="rect">
            <a:avLst/>
          </a:prstGeom>
        </p:spPr>
        <p:txBody>
          <a:bodyPr spcFirstLastPara="1" wrap="square" lIns="98375" tIns="49175" rIns="98375" bIns="49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42950"/>
            <a:ext cx="5956300" cy="3722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>
            <a:spLocks noGrp="1"/>
          </p:cNvSpPr>
          <p:nvPr>
            <p:ph type="title"/>
          </p:nvPr>
        </p:nvSpPr>
        <p:spPr>
          <a:xfrm>
            <a:off x="381000" y="127000"/>
            <a:ext cx="7391400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"/>
          <p:cNvSpPr txBox="1">
            <a:spLocks noGrp="1"/>
          </p:cNvSpPr>
          <p:nvPr>
            <p:ph type="body" idx="1"/>
          </p:nvPr>
        </p:nvSpPr>
        <p:spPr>
          <a:xfrm>
            <a:off x="457200" y="1035050"/>
            <a:ext cx="8229600" cy="4373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>
            <a:lvl1pPr marL="457200" lvl="0" indent="-412750" algn="l">
              <a:spcBef>
                <a:spcPts val="580"/>
              </a:spcBef>
              <a:spcAft>
                <a:spcPts val="0"/>
              </a:spcAft>
              <a:buSzPts val="2900"/>
              <a:buFont typeface="Noto Sans Symbols"/>
              <a:buChar char="⮚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58" name="Google Shape;58;p4"/>
          <p:cNvSpPr txBox="1">
            <a:spLocks noGrp="1"/>
          </p:cNvSpPr>
          <p:nvPr>
            <p:ph type="dt" idx="10"/>
          </p:nvPr>
        </p:nvSpPr>
        <p:spPr>
          <a:xfrm>
            <a:off x="381000" y="698500"/>
            <a:ext cx="5943600" cy="211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4"/>
          <p:cNvSpPr txBox="1">
            <a:spLocks noGrp="1"/>
          </p:cNvSpPr>
          <p:nvPr>
            <p:ph type="sldNum" idx="12"/>
          </p:nvPr>
        </p:nvSpPr>
        <p:spPr>
          <a:xfrm>
            <a:off x="3124200" y="5461000"/>
            <a:ext cx="2133600" cy="19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4"/>
          <p:cNvSpPr>
            <a:spLocks noChangeArrowheads="1"/>
          </p:cNvSpPr>
          <p:nvPr/>
        </p:nvSpPr>
        <p:spPr bwMode="auto">
          <a:xfrm>
            <a:off x="0" y="2940050"/>
            <a:ext cx="9144000" cy="2797175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5088" tIns="47544" rIns="95088" bIns="47544" anchor="ctr"/>
          <a:lstStyle/>
          <a:p>
            <a:pPr eaLnBrk="0" hangingPunct="0">
              <a:defRPr/>
            </a:pPr>
            <a:endParaRPr lang="en-US"/>
          </a:p>
        </p:txBody>
      </p:sp>
      <p:sp>
        <p:nvSpPr>
          <p:cNvPr id="5" name="Oval 25"/>
          <p:cNvSpPr>
            <a:spLocks noChangeArrowheads="1"/>
          </p:cNvSpPr>
          <p:nvPr/>
        </p:nvSpPr>
        <p:spPr bwMode="ltGray">
          <a:xfrm>
            <a:off x="1258888" y="3757613"/>
            <a:ext cx="4248150" cy="1500187"/>
          </a:xfrm>
          <a:prstGeom prst="ellipse">
            <a:avLst/>
          </a:pr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 wrap="none" lIns="95088" tIns="47544" rIns="95088" bIns="47544" anchor="ctr"/>
          <a:lstStyle/>
          <a:p>
            <a:pPr eaLnBrk="0" hangingPunct="0">
              <a:defRPr/>
            </a:pPr>
            <a:endParaRPr lang="en-US"/>
          </a:p>
        </p:txBody>
      </p:sp>
      <p:sp>
        <p:nvSpPr>
          <p:cNvPr id="6" name="Rectangle 17"/>
          <p:cNvSpPr>
            <a:spLocks noChangeArrowheads="1"/>
          </p:cNvSpPr>
          <p:nvPr/>
        </p:nvSpPr>
        <p:spPr bwMode="gray">
          <a:xfrm>
            <a:off x="0" y="2617788"/>
            <a:ext cx="9144000" cy="36036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5088" tIns="47544" rIns="95088" bIns="47544" anchor="ctr"/>
          <a:lstStyle/>
          <a:p>
            <a:pPr eaLnBrk="0" hangingPunct="0">
              <a:defRPr/>
            </a:pPr>
            <a:endParaRPr lang="en-US"/>
          </a:p>
        </p:txBody>
      </p:sp>
      <p:sp>
        <p:nvSpPr>
          <p:cNvPr id="7" name="Oval 18"/>
          <p:cNvSpPr>
            <a:spLocks noChangeArrowheads="1"/>
          </p:cNvSpPr>
          <p:nvPr userDrawn="1"/>
        </p:nvSpPr>
        <p:spPr bwMode="gray">
          <a:xfrm>
            <a:off x="276225" y="1046163"/>
            <a:ext cx="4656138" cy="4030662"/>
          </a:xfrm>
          <a:prstGeom prst="ellipse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  <a:effectLst>
            <a:outerShdw dist="172739" dir="3238358" algn="ctr" rotWithShape="0">
              <a:schemeClr val="tx1"/>
            </a:outerShdw>
          </a:effectLst>
        </p:spPr>
        <p:txBody>
          <a:bodyPr wrap="none" lIns="95088" tIns="47544" rIns="95088" bIns="47544" anchor="ctr"/>
          <a:lstStyle/>
          <a:p>
            <a:pPr eaLnBrk="0" hangingPunct="0">
              <a:defRPr/>
            </a:pPr>
            <a:endParaRPr lang="en-US"/>
          </a:p>
        </p:txBody>
      </p:sp>
      <p:pic>
        <p:nvPicPr>
          <p:cNvPr id="8" name="Picture 2" descr="F:\SELECTED TOPICS IN IS\Background photo.jpg"/>
          <p:cNvPicPr>
            <a:picLocks noChangeAspect="1" noChangeArrowheads="1"/>
          </p:cNvPicPr>
          <p:nvPr userDrawn="1"/>
        </p:nvPicPr>
        <p:blipFill>
          <a:blip r:embed="rId2"/>
          <a:srcRect b="69061"/>
          <a:stretch>
            <a:fillRect/>
          </a:stretch>
        </p:blipFill>
        <p:spPr bwMode="auto">
          <a:xfrm>
            <a:off x="0" y="6350"/>
            <a:ext cx="9144000" cy="176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13" descr="globe_11"/>
          <p:cNvPicPr>
            <a:picLocks noChangeAspect="1" noChangeArrowheads="1" noCrop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76200" y="5064125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2" descr="C:\ICT4D COURSES\UNDERGRAD LECTURES\LECTURES 2019\IS 112-LECTURES 2019\Logo.png"/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457200" y="1046163"/>
            <a:ext cx="4359275" cy="393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24200" y="635000"/>
            <a:ext cx="5715000" cy="1524000"/>
          </a:xfrm>
        </p:spPr>
        <p:txBody>
          <a:bodyPr/>
          <a:lstStyle>
            <a:lvl1pPr algn="r">
              <a:defRPr sz="4600" baseline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4267200" y="2648479"/>
            <a:ext cx="4572000" cy="3175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17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5405438"/>
            <a:ext cx="2133600" cy="139700"/>
          </a:xfrm>
        </p:spPr>
        <p:txBody>
          <a:bodyPr/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5405438"/>
            <a:ext cx="2895600" cy="139700"/>
          </a:xfrm>
          <a:prstGeom prst="rect">
            <a:avLst/>
          </a:prstGeom>
        </p:spPr>
        <p:txBody>
          <a:bodyPr/>
          <a:lstStyle>
            <a:lvl1pPr algn="ctr">
              <a:defRPr sz="1200" b="0">
                <a:solidFill>
                  <a:schemeClr val="bg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5405438"/>
            <a:ext cx="2133600" cy="139700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F2A3D270-EDAC-4FCB-BAEF-E0FB2A106D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Nu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>
            <a:spLocks noGrp="1"/>
          </p:cNvSpPr>
          <p:nvPr>
            <p:ph type="title"/>
          </p:nvPr>
        </p:nvSpPr>
        <p:spPr>
          <a:xfrm>
            <a:off x="0" y="81856"/>
            <a:ext cx="7358063" cy="483691"/>
          </a:xfrm>
          <a:prstGeom prst="rect">
            <a:avLst/>
          </a:prstGeom>
        </p:spPr>
        <p:txBody>
          <a:bodyPr/>
          <a:lstStyle/>
          <a:p>
            <a:pPr lvl="0">
              <a:defRPr sz="1800" i="0">
                <a:solidFill>
                  <a:srgbClr val="000000"/>
                </a:solidFill>
              </a:defRPr>
            </a:pPr>
            <a:r>
              <a:rPr sz="3100" i="1" dirty="0" err="1">
                <a:solidFill>
                  <a:srgbClr val="0096CE"/>
                </a:solidFill>
              </a:rPr>
              <a:t>Titeltext</a:t>
            </a:r>
            <a:endParaRPr sz="3100" i="1" dirty="0">
              <a:solidFill>
                <a:srgbClr val="0096CE"/>
              </a:solidFill>
            </a:endParaRPr>
          </a:p>
        </p:txBody>
      </p:sp>
      <p:sp>
        <p:nvSpPr>
          <p:cNvPr id="13" name="Shape 13"/>
          <p:cNvSpPr>
            <a:spLocks noGrp="1"/>
          </p:cNvSpPr>
          <p:nvPr>
            <p:ph type="body" idx="1"/>
          </p:nvPr>
        </p:nvSpPr>
        <p:spPr>
          <a:xfrm>
            <a:off x="133945" y="1160859"/>
            <a:ext cx="8393906" cy="3452813"/>
          </a:xfrm>
          <a:prstGeom prst="rect">
            <a:avLst/>
          </a:prstGeom>
        </p:spPr>
        <p:txBody>
          <a:bodyPr/>
          <a:lstStyle>
            <a:lvl2pPr marL="301491" indent="84908">
              <a:defRPr sz="2400"/>
            </a:lvl2pPr>
            <a:lvl3pPr marL="641124">
              <a:defRPr sz="2000"/>
            </a:lvl3pPr>
            <a:lvl4pPr marL="980757">
              <a:defRPr sz="1600"/>
            </a:lvl4pPr>
            <a:lvl5pPr marL="1320391">
              <a:defRPr sz="1300"/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700" dirty="0" err="1">
                <a:solidFill>
                  <a:srgbClr val="777776"/>
                </a:solidFill>
              </a:rPr>
              <a:t>Textebene</a:t>
            </a:r>
            <a:r>
              <a:rPr sz="2700" dirty="0">
                <a:solidFill>
                  <a:srgbClr val="777776"/>
                </a:solidFill>
              </a:rPr>
              <a:t> 1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2400" dirty="0" err="1">
                <a:solidFill>
                  <a:srgbClr val="777776"/>
                </a:solidFill>
              </a:rPr>
              <a:t>Textebene</a:t>
            </a:r>
            <a:r>
              <a:rPr sz="2400" dirty="0">
                <a:solidFill>
                  <a:srgbClr val="777776"/>
                </a:solidFill>
              </a:rPr>
              <a:t> 2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2000" dirty="0" err="1">
                <a:solidFill>
                  <a:srgbClr val="777776"/>
                </a:solidFill>
              </a:rPr>
              <a:t>Textebene</a:t>
            </a:r>
            <a:r>
              <a:rPr sz="2000" dirty="0">
                <a:solidFill>
                  <a:srgbClr val="777776"/>
                </a:solidFill>
              </a:rPr>
              <a:t> 3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1600" dirty="0" err="1">
                <a:solidFill>
                  <a:srgbClr val="777776"/>
                </a:solidFill>
              </a:rPr>
              <a:t>Textebene</a:t>
            </a:r>
            <a:r>
              <a:rPr sz="1600" dirty="0">
                <a:solidFill>
                  <a:srgbClr val="777776"/>
                </a:solidFill>
              </a:rPr>
              <a:t> 4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1300" dirty="0" err="1">
                <a:solidFill>
                  <a:srgbClr val="777776"/>
                </a:solidFill>
              </a:rPr>
              <a:t>Textebene</a:t>
            </a:r>
            <a:r>
              <a:rPr sz="1300" dirty="0">
                <a:solidFill>
                  <a:srgbClr val="777776"/>
                </a:solidFill>
              </a:rPr>
              <a:t> 5</a:t>
            </a:r>
          </a:p>
        </p:txBody>
      </p:sp>
      <p:sp>
        <p:nvSpPr>
          <p:cNvPr id="14" name="Shape 1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rPr/>
              <a:pPr lvl="0"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D9463A-ABEE-452C-A951-94FF933048A6}" type="datetimeFigureOut">
              <a:rPr lang="en-US"/>
              <a:pPr>
                <a:defRPr/>
              </a:pPr>
              <a:t>1/31/2024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47A3EF-DEB2-4F4F-B2FC-7941A5A603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6552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10" Type="http://schemas.openxmlformats.org/officeDocument/2006/relationships/image" Target="../media/image5.jpe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"/>
          <p:cNvSpPr txBox="1"/>
          <p:nvPr/>
        </p:nvSpPr>
        <p:spPr>
          <a:xfrm>
            <a:off x="0" y="665162"/>
            <a:ext cx="9144000" cy="26035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5075" tIns="47525" rIns="95075" bIns="47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0" name="Google Shape;40;p3"/>
          <p:cNvSpPr txBox="1"/>
          <p:nvPr/>
        </p:nvSpPr>
        <p:spPr>
          <a:xfrm>
            <a:off x="0" y="0"/>
            <a:ext cx="9144000" cy="6969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5075" tIns="47525" rIns="95075" bIns="47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41" name="Google Shape;41;p3"/>
          <p:cNvGrpSpPr/>
          <p:nvPr/>
        </p:nvGrpSpPr>
        <p:grpSpPr>
          <a:xfrm>
            <a:off x="7308850" y="157162"/>
            <a:ext cx="1665287" cy="1260475"/>
            <a:chOff x="4604" y="119"/>
            <a:chExt cx="1049" cy="953"/>
          </a:xfrm>
        </p:grpSpPr>
        <p:sp>
          <p:nvSpPr>
            <p:cNvPr id="42" name="Google Shape;42;p3"/>
            <p:cNvSpPr/>
            <p:nvPr/>
          </p:nvSpPr>
          <p:spPr>
            <a:xfrm>
              <a:off x="4921" y="845"/>
              <a:ext cx="732" cy="227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FFFFFF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4604" y="119"/>
              <a:ext cx="932" cy="911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63500" dist="63500" dir="2212194">
                <a:schemeClr val="dk1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4" name="Google Shape;44;p3" descr="4"/>
            <p:cNvSpPr/>
            <p:nvPr/>
          </p:nvSpPr>
          <p:spPr>
            <a:xfrm>
              <a:off x="5077" y="281"/>
              <a:ext cx="426" cy="588"/>
            </a:xfrm>
            <a:custGeom>
              <a:avLst/>
              <a:gdLst/>
              <a:ahLst/>
              <a:cxnLst/>
              <a:rect l="l" t="t" r="r" b="b"/>
              <a:pathLst>
                <a:path w="1348" h="1963" extrusionOk="0">
                  <a:moveTo>
                    <a:pt x="951" y="1963"/>
                  </a:moveTo>
                  <a:cubicBezTo>
                    <a:pt x="1244" y="1689"/>
                    <a:pt x="1348" y="1323"/>
                    <a:pt x="1338" y="977"/>
                  </a:cubicBezTo>
                  <a:cubicBezTo>
                    <a:pt x="1329" y="629"/>
                    <a:pt x="1132" y="226"/>
                    <a:pt x="905" y="0"/>
                  </a:cubicBezTo>
                  <a:lnTo>
                    <a:pt x="0" y="987"/>
                  </a:lnTo>
                  <a:lnTo>
                    <a:pt x="951" y="1963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5" name="Google Shape;45;p3" descr="1"/>
            <p:cNvSpPr/>
            <p:nvPr/>
          </p:nvSpPr>
          <p:spPr>
            <a:xfrm>
              <a:off x="4779" y="144"/>
              <a:ext cx="572" cy="415"/>
            </a:xfrm>
            <a:custGeom>
              <a:avLst/>
              <a:gdLst/>
              <a:ahLst/>
              <a:cxnLst/>
              <a:rect l="l" t="t" r="r" b="b"/>
              <a:pathLst>
                <a:path w="1810" h="1388" extrusionOk="0">
                  <a:moveTo>
                    <a:pt x="905" y="1388"/>
                  </a:moveTo>
                  <a:lnTo>
                    <a:pt x="1810" y="408"/>
                  </a:lnTo>
                  <a:cubicBezTo>
                    <a:pt x="1612" y="189"/>
                    <a:pt x="1272" y="0"/>
                    <a:pt x="874" y="40"/>
                  </a:cubicBezTo>
                  <a:cubicBezTo>
                    <a:pt x="541" y="52"/>
                    <a:pt x="252" y="162"/>
                    <a:pt x="0" y="409"/>
                  </a:cubicBezTo>
                  <a:lnTo>
                    <a:pt x="905" y="1388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6" name="Google Shape;46;p3" descr="2"/>
            <p:cNvSpPr/>
            <p:nvPr/>
          </p:nvSpPr>
          <p:spPr>
            <a:xfrm>
              <a:off x="4629" y="286"/>
              <a:ext cx="419" cy="574"/>
            </a:xfrm>
            <a:custGeom>
              <a:avLst/>
              <a:gdLst/>
              <a:ahLst/>
              <a:cxnLst/>
              <a:rect l="l" t="t" r="r" b="b"/>
              <a:pathLst>
                <a:path w="1325" h="1910" extrusionOk="0">
                  <a:moveTo>
                    <a:pt x="1325" y="960"/>
                  </a:moveTo>
                  <a:lnTo>
                    <a:pt x="414" y="0"/>
                  </a:lnTo>
                  <a:cubicBezTo>
                    <a:pt x="238" y="162"/>
                    <a:pt x="0" y="570"/>
                    <a:pt x="27" y="1014"/>
                  </a:cubicBezTo>
                  <a:cubicBezTo>
                    <a:pt x="53" y="1458"/>
                    <a:pt x="233" y="1748"/>
                    <a:pt x="402" y="1910"/>
                  </a:cubicBezTo>
                  <a:lnTo>
                    <a:pt x="1325" y="96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7" name="Google Shape;47;p3" descr="55282"/>
            <p:cNvSpPr/>
            <p:nvPr/>
          </p:nvSpPr>
          <p:spPr>
            <a:xfrm>
              <a:off x="4770" y="585"/>
              <a:ext cx="590" cy="419"/>
            </a:xfrm>
            <a:custGeom>
              <a:avLst/>
              <a:gdLst/>
              <a:ahLst/>
              <a:cxnLst/>
              <a:rect l="l" t="t" r="r" b="b"/>
              <a:pathLst>
                <a:path w="1866" h="1398" extrusionOk="0">
                  <a:moveTo>
                    <a:pt x="927" y="0"/>
                  </a:moveTo>
                  <a:lnTo>
                    <a:pt x="0" y="975"/>
                  </a:lnTo>
                  <a:cubicBezTo>
                    <a:pt x="203" y="1204"/>
                    <a:pt x="607" y="1398"/>
                    <a:pt x="996" y="1387"/>
                  </a:cubicBezTo>
                  <a:cubicBezTo>
                    <a:pt x="1385" y="1375"/>
                    <a:pt x="1707" y="1159"/>
                    <a:pt x="1866" y="996"/>
                  </a:cubicBezTo>
                  <a:lnTo>
                    <a:pt x="927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4914" y="438"/>
              <a:ext cx="329" cy="313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pic>
        <p:nvPicPr>
          <p:cNvPr id="49" name="Google Shape;49;p3" descr="F:\SELECTED TOPICS IN IS\Background photo.jpg"/>
          <p:cNvPicPr preferRelativeResize="0"/>
          <p:nvPr/>
        </p:nvPicPr>
        <p:blipFill rotWithShape="1">
          <a:blip r:embed="rId10">
            <a:alphaModFix/>
          </a:blip>
          <a:srcRect r="2733" b="15713"/>
          <a:stretch/>
        </p:blipFill>
        <p:spPr>
          <a:xfrm>
            <a:off x="0" y="0"/>
            <a:ext cx="9144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3"/>
          <p:cNvSpPr txBox="1"/>
          <p:nvPr/>
        </p:nvSpPr>
        <p:spPr>
          <a:xfrm>
            <a:off x="5387975" y="5461000"/>
            <a:ext cx="3298825" cy="2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rPr lang="en-US" sz="1100" b="1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IS 112: ICT for Development</a:t>
            </a:r>
            <a:endParaRPr/>
          </a:p>
        </p:txBody>
      </p:sp>
      <p:sp>
        <p:nvSpPr>
          <p:cNvPr id="51" name="Google Shape;51;p3"/>
          <p:cNvSpPr txBox="1">
            <a:spLocks noGrp="1"/>
          </p:cNvSpPr>
          <p:nvPr>
            <p:ph type="body" idx="1"/>
          </p:nvPr>
        </p:nvSpPr>
        <p:spPr>
          <a:xfrm>
            <a:off x="457200" y="1035050"/>
            <a:ext cx="8229600" cy="4373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>
            <a:lvl1pPr marL="457200" marR="0" lvl="0" indent="-412750" algn="l" rtl="0">
              <a:spcBef>
                <a:spcPts val="580"/>
              </a:spcBef>
              <a:spcAft>
                <a:spcPts val="0"/>
              </a:spcAft>
              <a:buClr>
                <a:schemeClr val="hlink"/>
              </a:buClr>
              <a:buSzPts val="2900"/>
              <a:buFont typeface="Noto Sans Symbols"/>
              <a:buChar char="❖"/>
              <a:defRPr sz="2900" b="1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412750" algn="l" rtl="0"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ts val="2900"/>
              <a:buFont typeface="Noto Sans Symbols"/>
              <a:buChar char="▪"/>
              <a:defRPr sz="2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73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3"/>
          <p:cNvSpPr txBox="1">
            <a:spLocks noGrp="1"/>
          </p:cNvSpPr>
          <p:nvPr>
            <p:ph type="title"/>
          </p:nvPr>
        </p:nvSpPr>
        <p:spPr>
          <a:xfrm>
            <a:off x="381000" y="127000"/>
            <a:ext cx="7391400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4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4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4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4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4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4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4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4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4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53" name="Google Shape;53;p3"/>
          <p:cNvSpPr txBox="1">
            <a:spLocks noGrp="1"/>
          </p:cNvSpPr>
          <p:nvPr>
            <p:ph type="dt" idx="10"/>
          </p:nvPr>
        </p:nvSpPr>
        <p:spPr>
          <a:xfrm>
            <a:off x="381000" y="698500"/>
            <a:ext cx="5943600" cy="211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54" name="Google Shape;54;p3"/>
          <p:cNvSpPr txBox="1">
            <a:spLocks noGrp="1"/>
          </p:cNvSpPr>
          <p:nvPr>
            <p:ph type="sldNum" idx="12"/>
          </p:nvPr>
        </p:nvSpPr>
        <p:spPr>
          <a:xfrm>
            <a:off x="3124200" y="5461000"/>
            <a:ext cx="2133600" cy="19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about:blank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0DB9AE2-8C96-4AE8-91D0-4B71101C69F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3315" name="Text Box 6"/>
          <p:cNvSpPr txBox="1">
            <a:spLocks noChangeArrowheads="1"/>
          </p:cNvSpPr>
          <p:nvPr/>
        </p:nvSpPr>
        <p:spPr bwMode="auto">
          <a:xfrm>
            <a:off x="3681942" y="5154613"/>
            <a:ext cx="5439833" cy="403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5088" tIns="47544" rIns="95088" bIns="47544">
            <a:spAutoFit/>
          </a:bodyPr>
          <a:lstStyle/>
          <a:p>
            <a:pPr algn="r" eaLnBrk="0" hangingPunct="0"/>
            <a:r>
              <a:rPr lang="en-US" sz="2000" b="1" dirty="0">
                <a:solidFill>
                  <a:schemeClr val="bg1"/>
                </a:solidFill>
              </a:rPr>
              <a:t>Instructors: Dr. H. Mongi &amp; </a:t>
            </a:r>
            <a:r>
              <a:rPr lang="en-US" sz="2000" b="1" dirty="0" err="1">
                <a:solidFill>
                  <a:schemeClr val="bg1"/>
                </a:solidFill>
              </a:rPr>
              <a:t>Mr</a:t>
            </a:r>
            <a:r>
              <a:rPr lang="en-US" sz="2000" b="1" dirty="0">
                <a:solidFill>
                  <a:schemeClr val="bg1"/>
                </a:solidFill>
              </a:rPr>
              <a:t> O. Shadrack</a:t>
            </a:r>
          </a:p>
        </p:txBody>
      </p:sp>
      <p:sp>
        <p:nvSpPr>
          <p:cNvPr id="13316" name="Text Box 6"/>
          <p:cNvSpPr txBox="1">
            <a:spLocks noChangeArrowheads="1"/>
          </p:cNvSpPr>
          <p:nvPr/>
        </p:nvSpPr>
        <p:spPr bwMode="auto">
          <a:xfrm>
            <a:off x="4927601" y="3540225"/>
            <a:ext cx="4123266" cy="13886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5088" tIns="47544" rIns="95088" bIns="47544">
            <a:spAutoFit/>
          </a:bodyPr>
          <a:lstStyle/>
          <a:p>
            <a:pPr algn="r" eaLnBrk="0" hangingPunct="0"/>
            <a:r>
              <a:rPr lang="en-US" sz="2800" b="1" dirty="0">
                <a:solidFill>
                  <a:schemeClr val="bg1"/>
                </a:solidFill>
              </a:rPr>
              <a:t>Lecture 5:</a:t>
            </a:r>
          </a:p>
          <a:p>
            <a:pPr algn="r" eaLnBrk="0" hangingPunct="0"/>
            <a:r>
              <a:rPr lang="en-US" sz="2800" b="1" dirty="0">
                <a:solidFill>
                  <a:schemeClr val="bg1"/>
                </a:solidFill>
              </a:rPr>
              <a:t>Approaches for ICT4D </a:t>
            </a:r>
          </a:p>
          <a:p>
            <a:pPr algn="r" eaLnBrk="0" hangingPunct="0"/>
            <a:r>
              <a:rPr lang="en-US" sz="2800" b="1" dirty="0">
                <a:solidFill>
                  <a:schemeClr val="bg1"/>
                </a:solidFill>
              </a:rPr>
              <a:t>Project Design </a:t>
            </a:r>
          </a:p>
        </p:txBody>
      </p:sp>
      <p:cxnSp>
        <p:nvCxnSpPr>
          <p:cNvPr id="8" name="Straight Connector 7"/>
          <p:cNvCxnSpPr>
            <a:cxnSpLocks/>
          </p:cNvCxnSpPr>
          <p:nvPr/>
        </p:nvCxnSpPr>
        <p:spPr>
          <a:xfrm>
            <a:off x="3903133" y="5157216"/>
            <a:ext cx="5240867" cy="0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cxnSpLocks/>
          </p:cNvCxnSpPr>
          <p:nvPr/>
        </p:nvCxnSpPr>
        <p:spPr>
          <a:xfrm>
            <a:off x="3801533" y="5608638"/>
            <a:ext cx="5342467" cy="0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19" name="TextBox 9"/>
          <p:cNvSpPr txBox="1">
            <a:spLocks noChangeArrowheads="1"/>
          </p:cNvSpPr>
          <p:nvPr/>
        </p:nvSpPr>
        <p:spPr bwMode="auto">
          <a:xfrm>
            <a:off x="8328025" y="1016000"/>
            <a:ext cx="793750" cy="6492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lIns="95088" tIns="47544" rIns="95088" bIns="47544">
            <a:spAutoFit/>
          </a:bodyPr>
          <a:lstStyle/>
          <a:p>
            <a:endParaRPr lang="en-US"/>
          </a:p>
          <a:p>
            <a:endParaRPr lang="en-US"/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black">
          <a:xfrm>
            <a:off x="4267200" y="423863"/>
            <a:ext cx="4854575" cy="2198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5088" tIns="47544" rIns="95088" bIns="47544" anchor="ctr"/>
          <a:lstStyle/>
          <a:p>
            <a:pPr algn="ctr">
              <a:defRPr/>
            </a:pPr>
            <a:r>
              <a:rPr lang="en-US" sz="3700" b="1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IS 112: ICT for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/>
              <a:t>Contents</a:t>
            </a:r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1660525" y="601663"/>
            <a:ext cx="192088" cy="373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5088" tIns="47544" rIns="95088" bIns="47544">
            <a:spAutoFit/>
          </a:bodyPr>
          <a:lstStyle/>
          <a:p>
            <a:pPr eaLnBrk="0" hangingPunct="0"/>
            <a:endParaRPr lang="en-US"/>
          </a:p>
        </p:txBody>
      </p:sp>
      <p:sp>
        <p:nvSpPr>
          <p:cNvPr id="67588" name="AutoShape 4"/>
          <p:cNvSpPr>
            <a:spLocks noChangeArrowheads="1"/>
          </p:cNvSpPr>
          <p:nvPr/>
        </p:nvSpPr>
        <p:spPr bwMode="ltGray">
          <a:xfrm rot="5400000">
            <a:off x="-2020888" y="958850"/>
            <a:ext cx="4021138" cy="4770438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rotWithShape="1">
            <a:gsLst>
              <a:gs pos="0">
                <a:schemeClr val="bg2">
                  <a:gamma/>
                  <a:tint val="45490"/>
                  <a:invGamma/>
                </a:schemeClr>
              </a:gs>
              <a:gs pos="50000">
                <a:schemeClr val="bg2"/>
              </a:gs>
              <a:gs pos="100000">
                <a:schemeClr val="bg2">
                  <a:gamma/>
                  <a:tint val="45490"/>
                  <a:invGamma/>
                </a:schemeClr>
              </a:gs>
            </a:gsLst>
            <a:lin ang="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lIns="95088" tIns="47544" rIns="95088" bIns="47544" anchor="ctr"/>
          <a:lstStyle/>
          <a:p>
            <a:pPr eaLnBrk="0" hangingPunct="0">
              <a:defRPr/>
            </a:pPr>
            <a:endParaRPr lang="en-US"/>
          </a:p>
        </p:txBody>
      </p:sp>
      <p:sp>
        <p:nvSpPr>
          <p:cNvPr id="14341" name="AutoShape 5"/>
          <p:cNvSpPr>
            <a:spLocks noChangeArrowheads="1"/>
          </p:cNvSpPr>
          <p:nvPr/>
        </p:nvSpPr>
        <p:spPr bwMode="ltGray">
          <a:xfrm rot="5400000" flipH="1">
            <a:off x="-1681162" y="1392237"/>
            <a:ext cx="3360738" cy="392906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lose/>
              </a:path>
            </a:pathLst>
          </a:custGeom>
          <a:solidFill>
            <a:srgbClr val="BBE0E3"/>
          </a:solidFill>
          <a:ln w="0" algn="ctr">
            <a:noFill/>
            <a:miter lim="800000"/>
            <a:headEnd/>
            <a:tailEnd/>
          </a:ln>
        </p:spPr>
        <p:txBody>
          <a:bodyPr wrap="none" lIns="95088" tIns="47544" rIns="95088" bIns="47544" anchor="ctr"/>
          <a:lstStyle/>
          <a:p>
            <a:endParaRPr lang="en-GB"/>
          </a:p>
        </p:txBody>
      </p:sp>
      <p:grpSp>
        <p:nvGrpSpPr>
          <p:cNvPr id="2" name="Group 79">
            <a:extLst>
              <a:ext uri="{FF2B5EF4-FFF2-40B4-BE49-F238E27FC236}">
                <a16:creationId xmlns:a16="http://schemas.microsoft.com/office/drawing/2014/main" id="{7A6BF7BF-9E0E-8C10-67C7-F65C0224747E}"/>
              </a:ext>
            </a:extLst>
          </p:cNvPr>
          <p:cNvGrpSpPr>
            <a:grpSpLocks/>
          </p:cNvGrpSpPr>
          <p:nvPr/>
        </p:nvGrpSpPr>
        <p:grpSpPr bwMode="auto">
          <a:xfrm>
            <a:off x="1062372" y="1416668"/>
            <a:ext cx="1744112" cy="519112"/>
            <a:chOff x="1981200" y="2728540"/>
            <a:chExt cx="2041227" cy="623284"/>
          </a:xfrm>
        </p:grpSpPr>
        <p:sp>
          <p:nvSpPr>
            <p:cNvPr id="3" name="AutoShape 9">
              <a:extLst>
                <a:ext uri="{FF2B5EF4-FFF2-40B4-BE49-F238E27FC236}">
                  <a16:creationId xmlns:a16="http://schemas.microsoft.com/office/drawing/2014/main" id="{937B5613-FF64-0D36-E920-129887DF3B5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534040" y="2743201"/>
              <a:ext cx="1488387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r>
                <a:rPr lang="en-US" sz="2100" b="1" u="sng" dirty="0"/>
                <a:t>Recap</a:t>
              </a:r>
            </a:p>
          </p:txBody>
        </p:sp>
        <p:grpSp>
          <p:nvGrpSpPr>
            <p:cNvPr id="4" name="Group 18">
              <a:extLst>
                <a:ext uri="{FF2B5EF4-FFF2-40B4-BE49-F238E27FC236}">
                  <a16:creationId xmlns:a16="http://schemas.microsoft.com/office/drawing/2014/main" id="{53194AAE-DC77-9882-1707-F81A1960FF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81200" y="2728540"/>
              <a:ext cx="533164" cy="623285"/>
              <a:chOff x="2078" y="1167"/>
              <a:chExt cx="2260" cy="2642"/>
            </a:xfrm>
          </p:grpSpPr>
          <p:sp>
            <p:nvSpPr>
              <p:cNvPr id="5" name="Oval 19">
                <a:extLst>
                  <a:ext uri="{FF2B5EF4-FFF2-40B4-BE49-F238E27FC236}">
                    <a16:creationId xmlns:a16="http://schemas.microsoft.com/office/drawing/2014/main" id="{49C3B814-44A7-6F88-1043-2D78ECE6F390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078" y="1680"/>
                <a:ext cx="1615" cy="1615"/>
              </a:xfrm>
              <a:prstGeom prst="ellipse">
                <a:avLst/>
              </a:prstGeom>
              <a:gradFill rotWithShape="1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5400000" scaled="1"/>
              </a:gradFill>
              <a:ln w="57150" algn="ctr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6" name="Oval 20">
                <a:extLst>
                  <a:ext uri="{FF2B5EF4-FFF2-40B4-BE49-F238E27FC236}">
                    <a16:creationId xmlns:a16="http://schemas.microsoft.com/office/drawing/2014/main" id="{39E122DE-3145-4DAE-7028-FA6E13982484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170" y="1771"/>
                <a:ext cx="1430" cy="1430"/>
              </a:xfrm>
              <a:prstGeom prst="ellipse">
                <a:avLst/>
              </a:prstGeom>
              <a:gradFill rotWithShape="1">
                <a:gsLst>
                  <a:gs pos="0">
                    <a:srgbClr val="A2A2A2"/>
                  </a:gs>
                  <a:gs pos="50000">
                    <a:srgbClr val="FFFFFF"/>
                  </a:gs>
                  <a:gs pos="100000">
                    <a:srgbClr val="A2A2A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7" name="Oval 21">
                <a:extLst>
                  <a:ext uri="{FF2B5EF4-FFF2-40B4-BE49-F238E27FC236}">
                    <a16:creationId xmlns:a16="http://schemas.microsoft.com/office/drawing/2014/main" id="{A76D5E86-64CD-F23B-1E81-808F554FF5A8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251" y="1167"/>
                <a:ext cx="1347" cy="2642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tint val="0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tint val="0"/>
                      <a:invGamma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eaLnBrk="0" hangingPunct="0">
                  <a:defRPr/>
                </a:pPr>
                <a:endParaRPr lang="en-US"/>
              </a:p>
            </p:txBody>
          </p:sp>
          <p:sp>
            <p:nvSpPr>
              <p:cNvPr id="8" name="Oval 22">
                <a:extLst>
                  <a:ext uri="{FF2B5EF4-FFF2-40B4-BE49-F238E27FC236}">
                    <a16:creationId xmlns:a16="http://schemas.microsoft.com/office/drawing/2014/main" id="{ACBFCCE7-3E7B-4D66-38DF-DBBDB709A431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254" y="1167"/>
                <a:ext cx="1344" cy="2642"/>
              </a:xfrm>
              <a:prstGeom prst="ellipse">
                <a:avLst/>
              </a:prstGeom>
              <a:gradFill rotWithShape="1">
                <a:gsLst>
                  <a:gs pos="0">
                    <a:srgbClr val="000000"/>
                  </a:gs>
                  <a:gs pos="100000">
                    <a:srgbClr val="48BE67"/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eaLnBrk="0" hangingPunct="0"/>
                <a:endParaRPr lang="en-US"/>
              </a:p>
            </p:txBody>
          </p:sp>
          <p:sp>
            <p:nvSpPr>
              <p:cNvPr id="9" name="Oval 23">
                <a:extLst>
                  <a:ext uri="{FF2B5EF4-FFF2-40B4-BE49-F238E27FC236}">
                    <a16:creationId xmlns:a16="http://schemas.microsoft.com/office/drawing/2014/main" id="{D2C9EDBE-C700-0BDE-52B8-47FF83278C51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330" y="1167"/>
                <a:ext cx="1103" cy="2642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shade val="54118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54118"/>
                      <a:invGamma/>
                    </a:schemeClr>
                  </a:gs>
                </a:gsLst>
                <a:lin ang="189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 eaLnBrk="0" hangingPunct="0">
                  <a:defRPr/>
                </a:pPr>
                <a:endParaRPr lang="en-US"/>
              </a:p>
            </p:txBody>
          </p:sp>
          <p:sp>
            <p:nvSpPr>
              <p:cNvPr id="10" name="Oval 24">
                <a:extLst>
                  <a:ext uri="{FF2B5EF4-FFF2-40B4-BE49-F238E27FC236}">
                    <a16:creationId xmlns:a16="http://schemas.microsoft.com/office/drawing/2014/main" id="{AF627802-F47D-AC86-7118-5AF0E7B8398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078" y="1167"/>
                <a:ext cx="2260" cy="2642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38100" algn="ctr">
                <a:solidFill>
                  <a:srgbClr val="FFFF00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eaLnBrk="0" hangingPunct="0">
                  <a:defRPr/>
                </a:pPr>
                <a:endParaRPr lang="en-US"/>
              </a:p>
            </p:txBody>
          </p:sp>
        </p:grpSp>
      </p:grpSp>
      <p:grpSp>
        <p:nvGrpSpPr>
          <p:cNvPr id="11" name="Group 79">
            <a:extLst>
              <a:ext uri="{FF2B5EF4-FFF2-40B4-BE49-F238E27FC236}">
                <a16:creationId xmlns:a16="http://schemas.microsoft.com/office/drawing/2014/main" id="{5C788262-0DF5-AE43-A9AE-474FB3EE1F6E}"/>
              </a:ext>
            </a:extLst>
          </p:cNvPr>
          <p:cNvGrpSpPr>
            <a:grpSpLocks/>
          </p:cNvGrpSpPr>
          <p:nvPr/>
        </p:nvGrpSpPr>
        <p:grpSpPr bwMode="auto">
          <a:xfrm>
            <a:off x="1752533" y="2115360"/>
            <a:ext cx="2679354" cy="536580"/>
            <a:chOff x="1798130" y="2687959"/>
            <a:chExt cx="3092176" cy="726682"/>
          </a:xfrm>
        </p:grpSpPr>
        <p:sp>
          <p:nvSpPr>
            <p:cNvPr id="12" name="AutoShape 9">
              <a:extLst>
                <a:ext uri="{FF2B5EF4-FFF2-40B4-BE49-F238E27FC236}">
                  <a16:creationId xmlns:a16="http://schemas.microsoft.com/office/drawing/2014/main" id="{81BBF622-E121-DC99-04B7-990A31BF2CD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497770" y="2743198"/>
              <a:ext cx="2392536" cy="671443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r>
                <a:rPr lang="en-US" sz="2100" b="1" u="sng" dirty="0"/>
                <a:t>Introduction </a:t>
              </a:r>
            </a:p>
          </p:txBody>
        </p:sp>
        <p:grpSp>
          <p:nvGrpSpPr>
            <p:cNvPr id="13" name="Group 18">
              <a:extLst>
                <a:ext uri="{FF2B5EF4-FFF2-40B4-BE49-F238E27FC236}">
                  <a16:creationId xmlns:a16="http://schemas.microsoft.com/office/drawing/2014/main" id="{2BD7C12A-3325-7213-6E61-7535CA4B7B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98130" y="2687959"/>
              <a:ext cx="684856" cy="703966"/>
              <a:chOff x="1302" y="995"/>
              <a:chExt cx="2903" cy="2984"/>
            </a:xfrm>
          </p:grpSpPr>
          <p:sp>
            <p:nvSpPr>
              <p:cNvPr id="14" name="Oval 19">
                <a:extLst>
                  <a:ext uri="{FF2B5EF4-FFF2-40B4-BE49-F238E27FC236}">
                    <a16:creationId xmlns:a16="http://schemas.microsoft.com/office/drawing/2014/main" id="{86983F5C-CB1E-DB6D-9599-14ED8679A4A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078" y="1680"/>
                <a:ext cx="1615" cy="1615"/>
              </a:xfrm>
              <a:prstGeom prst="ellipse">
                <a:avLst/>
              </a:prstGeom>
              <a:gradFill rotWithShape="1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5400000" scaled="1"/>
              </a:gradFill>
              <a:ln w="57150" algn="ctr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15" name="Oval 20">
                <a:extLst>
                  <a:ext uri="{FF2B5EF4-FFF2-40B4-BE49-F238E27FC236}">
                    <a16:creationId xmlns:a16="http://schemas.microsoft.com/office/drawing/2014/main" id="{8719199B-16A5-290D-86C9-6BD161F685B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170" y="1771"/>
                <a:ext cx="1430" cy="1430"/>
              </a:xfrm>
              <a:prstGeom prst="ellipse">
                <a:avLst/>
              </a:prstGeom>
              <a:gradFill rotWithShape="1">
                <a:gsLst>
                  <a:gs pos="0">
                    <a:srgbClr val="A2A2A2"/>
                  </a:gs>
                  <a:gs pos="50000">
                    <a:srgbClr val="FFFFFF"/>
                  </a:gs>
                  <a:gs pos="100000">
                    <a:srgbClr val="A2A2A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16" name="Oval 21">
                <a:extLst>
                  <a:ext uri="{FF2B5EF4-FFF2-40B4-BE49-F238E27FC236}">
                    <a16:creationId xmlns:a16="http://schemas.microsoft.com/office/drawing/2014/main" id="{CD3B7606-4D80-5FC8-AC14-3E4C529A5846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249" y="995"/>
                <a:ext cx="1351" cy="2980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tint val="0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tint val="0"/>
                      <a:invGamma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eaLnBrk="0" hangingPunct="0">
                  <a:defRPr/>
                </a:pPr>
                <a:endParaRPr lang="en-US"/>
              </a:p>
            </p:txBody>
          </p:sp>
          <p:sp>
            <p:nvSpPr>
              <p:cNvPr id="17" name="Oval 22">
                <a:extLst>
                  <a:ext uri="{FF2B5EF4-FFF2-40B4-BE49-F238E27FC236}">
                    <a16:creationId xmlns:a16="http://schemas.microsoft.com/office/drawing/2014/main" id="{20A7FD4B-31C0-41F6-4BA4-DA954C87B55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254" y="999"/>
                <a:ext cx="1344" cy="2980"/>
              </a:xfrm>
              <a:prstGeom prst="ellipse">
                <a:avLst/>
              </a:prstGeom>
              <a:gradFill rotWithShape="1">
                <a:gsLst>
                  <a:gs pos="0">
                    <a:srgbClr val="000000"/>
                  </a:gs>
                  <a:gs pos="100000">
                    <a:srgbClr val="48BE67"/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eaLnBrk="0" hangingPunct="0"/>
                <a:endParaRPr lang="en-US"/>
              </a:p>
            </p:txBody>
          </p:sp>
          <p:sp>
            <p:nvSpPr>
              <p:cNvPr id="18" name="Oval 23">
                <a:extLst>
                  <a:ext uri="{FF2B5EF4-FFF2-40B4-BE49-F238E27FC236}">
                    <a16:creationId xmlns:a16="http://schemas.microsoft.com/office/drawing/2014/main" id="{D54E66E6-3F0C-C254-7708-D2552FEF2296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335" y="995"/>
                <a:ext cx="1103" cy="2980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shade val="54118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54118"/>
                      <a:invGamma/>
                    </a:schemeClr>
                  </a:gs>
                </a:gsLst>
                <a:lin ang="189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 eaLnBrk="0" hangingPunct="0">
                  <a:defRPr/>
                </a:pPr>
                <a:endParaRPr lang="en-US"/>
              </a:p>
            </p:txBody>
          </p:sp>
          <p:sp>
            <p:nvSpPr>
              <p:cNvPr id="19" name="Oval 24">
                <a:extLst>
                  <a:ext uri="{FF2B5EF4-FFF2-40B4-BE49-F238E27FC236}">
                    <a16:creationId xmlns:a16="http://schemas.microsoft.com/office/drawing/2014/main" id="{E9651788-45DB-898C-5B56-BE97D70E7E02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302" y="999"/>
                <a:ext cx="2903" cy="2980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38100" algn="ctr">
                <a:solidFill>
                  <a:schemeClr val="tx1">
                    <a:lumMod val="60000"/>
                    <a:lumOff val="40000"/>
                  </a:schemeClr>
                </a:solidFill>
                <a:round/>
                <a:headEnd/>
                <a:tailEnd/>
              </a:ln>
              <a:effectLst>
                <a:outerShdw blurRad="149987" dist="250190" dir="8460000" algn="ctr">
                  <a:srgbClr val="000000">
                    <a:alpha val="28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contrasting" dir="t">
                  <a:rot lat="0" lon="0" rev="1500000"/>
                </a:lightRig>
              </a:scene3d>
              <a:sp3d prstMaterial="metal">
                <a:bevelT w="88900" h="88900"/>
              </a:sp3d>
            </p:spPr>
            <p:txBody>
              <a:bodyPr anchor="ctr">
                <a:spAutoFit/>
              </a:bodyPr>
              <a:lstStyle/>
              <a:p>
                <a:pPr eaLnBrk="0" hangingPunct="0">
                  <a:defRPr/>
                </a:pPr>
                <a:endParaRPr lang="en-US"/>
              </a:p>
            </p:txBody>
          </p:sp>
        </p:grpSp>
      </p:grpSp>
      <p:grpSp>
        <p:nvGrpSpPr>
          <p:cNvPr id="20" name="Group 49">
            <a:extLst>
              <a:ext uri="{FF2B5EF4-FFF2-40B4-BE49-F238E27FC236}">
                <a16:creationId xmlns:a16="http://schemas.microsoft.com/office/drawing/2014/main" id="{DA5778D8-7693-EA4D-C842-A8DF55968715}"/>
              </a:ext>
            </a:extLst>
          </p:cNvPr>
          <p:cNvGrpSpPr>
            <a:grpSpLocks/>
          </p:cNvGrpSpPr>
          <p:nvPr/>
        </p:nvGrpSpPr>
        <p:grpSpPr bwMode="auto">
          <a:xfrm>
            <a:off x="2134308" y="2921762"/>
            <a:ext cx="5979789" cy="601662"/>
            <a:chOff x="2133600" y="3479204"/>
            <a:chExt cx="4664447" cy="722312"/>
          </a:xfrm>
        </p:grpSpPr>
        <p:sp>
          <p:nvSpPr>
            <p:cNvPr id="21" name="AutoShape 8">
              <a:extLst>
                <a:ext uri="{FF2B5EF4-FFF2-40B4-BE49-F238E27FC236}">
                  <a16:creationId xmlns:a16="http://schemas.microsoft.com/office/drawing/2014/main" id="{11F56CE4-ACE2-E9E1-6917-22CA26E629A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506891" y="3479204"/>
              <a:ext cx="4291156" cy="722312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r>
                <a:rPr lang="en-US" sz="2100" b="1" u="sng" dirty="0"/>
                <a:t>Categories of ICT4D Design Approaches</a:t>
              </a:r>
            </a:p>
          </p:txBody>
        </p:sp>
        <p:grpSp>
          <p:nvGrpSpPr>
            <p:cNvPr id="22" name="Group 25">
              <a:extLst>
                <a:ext uri="{FF2B5EF4-FFF2-40B4-BE49-F238E27FC236}">
                  <a16:creationId xmlns:a16="http://schemas.microsoft.com/office/drawing/2014/main" id="{23C6F791-73F4-8C29-02C5-0E9CAD52F0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33600" y="3565797"/>
              <a:ext cx="381000" cy="625172"/>
              <a:chOff x="2078" y="1163"/>
              <a:chExt cx="1615" cy="2650"/>
            </a:xfrm>
          </p:grpSpPr>
          <p:sp>
            <p:nvSpPr>
              <p:cNvPr id="23" name="Oval 26">
                <a:extLst>
                  <a:ext uri="{FF2B5EF4-FFF2-40B4-BE49-F238E27FC236}">
                    <a16:creationId xmlns:a16="http://schemas.microsoft.com/office/drawing/2014/main" id="{9247359F-D7E7-6C17-FD4F-BF963DA2E3A6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078" y="1680"/>
                <a:ext cx="1615" cy="1615"/>
              </a:xfrm>
              <a:prstGeom prst="ellipse">
                <a:avLst/>
              </a:prstGeom>
              <a:gradFill rotWithShape="1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5400000" scaled="1"/>
              </a:gradFill>
              <a:ln w="57150" algn="ctr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4" name="Oval 27">
                <a:extLst>
                  <a:ext uri="{FF2B5EF4-FFF2-40B4-BE49-F238E27FC236}">
                    <a16:creationId xmlns:a16="http://schemas.microsoft.com/office/drawing/2014/main" id="{68C5134B-A83D-DF7B-1839-A7A26904936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170" y="1771"/>
                <a:ext cx="1430" cy="1430"/>
              </a:xfrm>
              <a:prstGeom prst="ellipse">
                <a:avLst/>
              </a:prstGeom>
              <a:gradFill rotWithShape="1">
                <a:gsLst>
                  <a:gs pos="0">
                    <a:srgbClr val="A2A2A2"/>
                  </a:gs>
                  <a:gs pos="50000">
                    <a:srgbClr val="FFFFFF"/>
                  </a:gs>
                  <a:gs pos="100000">
                    <a:srgbClr val="A2A2A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5" name="Oval 28">
                <a:extLst>
                  <a:ext uri="{FF2B5EF4-FFF2-40B4-BE49-F238E27FC236}">
                    <a16:creationId xmlns:a16="http://schemas.microsoft.com/office/drawing/2014/main" id="{D0E20B81-7316-CE89-2CEA-B9F29B30988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263" y="1163"/>
                <a:ext cx="846" cy="2650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tint val="0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tint val="0"/>
                      <a:invGamma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eaLnBrk="0" hangingPunct="0">
                  <a:defRPr/>
                </a:pPr>
                <a:endParaRPr lang="en-US"/>
              </a:p>
            </p:txBody>
          </p:sp>
          <p:sp>
            <p:nvSpPr>
              <p:cNvPr id="26" name="Oval 29">
                <a:extLst>
                  <a:ext uri="{FF2B5EF4-FFF2-40B4-BE49-F238E27FC236}">
                    <a16:creationId xmlns:a16="http://schemas.microsoft.com/office/drawing/2014/main" id="{E62B8D5E-5A4E-F57A-1B0D-4DDFFE118CA2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254" y="1167"/>
                <a:ext cx="853" cy="2642"/>
              </a:xfrm>
              <a:prstGeom prst="ellipse">
                <a:avLst/>
              </a:prstGeom>
              <a:gradFill rotWithShape="1">
                <a:gsLst>
                  <a:gs pos="0">
                    <a:srgbClr val="21B3E1"/>
                  </a:gs>
                  <a:gs pos="100000">
                    <a:srgbClr val="0F5368"/>
                  </a:gs>
                </a:gsLst>
                <a:lin ang="54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7" name="Oval 30">
                <a:extLst>
                  <a:ext uri="{FF2B5EF4-FFF2-40B4-BE49-F238E27FC236}">
                    <a16:creationId xmlns:a16="http://schemas.microsoft.com/office/drawing/2014/main" id="{E452C704-A4D6-770A-29C1-BE096F06E2F7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337" y="1163"/>
                <a:ext cx="1089" cy="2650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shade val="54118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54118"/>
                      <a:invGamma/>
                    </a:schemeClr>
                  </a:gs>
                </a:gsLst>
                <a:lin ang="189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 eaLnBrk="0" hangingPunct="0">
                  <a:defRPr/>
                </a:pPr>
                <a:endParaRPr lang="en-US"/>
              </a:p>
            </p:txBody>
          </p:sp>
          <p:sp>
            <p:nvSpPr>
              <p:cNvPr id="28" name="Oval 31">
                <a:extLst>
                  <a:ext uri="{FF2B5EF4-FFF2-40B4-BE49-F238E27FC236}">
                    <a16:creationId xmlns:a16="http://schemas.microsoft.com/office/drawing/2014/main" id="{A977831D-B786-B169-F816-49030109657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078" y="1167"/>
                <a:ext cx="1522" cy="220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38100" algn="ctr">
                <a:solidFill>
                  <a:srgbClr val="996633"/>
                </a:solidFill>
                <a:round/>
                <a:headEnd/>
                <a:tailEnd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  <a:softEdge rad="12700"/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txBody>
              <a:bodyPr anchor="ctr">
                <a:spAutoFit/>
              </a:bodyPr>
              <a:lstStyle/>
              <a:p>
                <a:pPr eaLnBrk="0" hangingPunct="0">
                  <a:defRPr/>
                </a:pPr>
                <a:endParaRPr lang="en-US">
                  <a:ln>
                    <a:solidFill>
                      <a:srgbClr val="FFC000"/>
                    </a:solidFill>
                  </a:ln>
                </a:endParaRPr>
              </a:p>
            </p:txBody>
          </p:sp>
        </p:grpSp>
      </p:grpSp>
      <p:grpSp>
        <p:nvGrpSpPr>
          <p:cNvPr id="29" name="Group 49">
            <a:extLst>
              <a:ext uri="{FF2B5EF4-FFF2-40B4-BE49-F238E27FC236}">
                <a16:creationId xmlns:a16="http://schemas.microsoft.com/office/drawing/2014/main" id="{CCB0D767-6E45-00A5-E33D-6AD64A1A4D56}"/>
              </a:ext>
            </a:extLst>
          </p:cNvPr>
          <p:cNvGrpSpPr>
            <a:grpSpLocks/>
          </p:cNvGrpSpPr>
          <p:nvPr/>
        </p:nvGrpSpPr>
        <p:grpSpPr bwMode="auto">
          <a:xfrm>
            <a:off x="1924157" y="3760764"/>
            <a:ext cx="4293763" cy="601662"/>
            <a:chOff x="2133600" y="3479204"/>
            <a:chExt cx="3349287" cy="722312"/>
          </a:xfrm>
        </p:grpSpPr>
        <p:sp>
          <p:nvSpPr>
            <p:cNvPr id="30" name="AutoShape 8">
              <a:extLst>
                <a:ext uri="{FF2B5EF4-FFF2-40B4-BE49-F238E27FC236}">
                  <a16:creationId xmlns:a16="http://schemas.microsoft.com/office/drawing/2014/main" id="{C2434A5A-A352-23C1-F1BA-D432868850A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506891" y="3479204"/>
              <a:ext cx="2975996" cy="722312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r>
                <a:rPr lang="en-US" sz="2100" b="1" u="sng" dirty="0"/>
                <a:t>ICT4D Design Approaches</a:t>
              </a:r>
            </a:p>
          </p:txBody>
        </p:sp>
        <p:grpSp>
          <p:nvGrpSpPr>
            <p:cNvPr id="31" name="Group 25">
              <a:extLst>
                <a:ext uri="{FF2B5EF4-FFF2-40B4-BE49-F238E27FC236}">
                  <a16:creationId xmlns:a16="http://schemas.microsoft.com/office/drawing/2014/main" id="{B9EBE543-8C39-8F50-1F48-46075B33DB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33600" y="3565797"/>
              <a:ext cx="381000" cy="625172"/>
              <a:chOff x="2078" y="1163"/>
              <a:chExt cx="1615" cy="2650"/>
            </a:xfrm>
          </p:grpSpPr>
          <p:sp>
            <p:nvSpPr>
              <p:cNvPr id="14336" name="Oval 26">
                <a:extLst>
                  <a:ext uri="{FF2B5EF4-FFF2-40B4-BE49-F238E27FC236}">
                    <a16:creationId xmlns:a16="http://schemas.microsoft.com/office/drawing/2014/main" id="{40CAA7A6-352F-254B-0A0F-D6CFB552C22E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078" y="1680"/>
                <a:ext cx="1615" cy="1615"/>
              </a:xfrm>
              <a:prstGeom prst="ellipse">
                <a:avLst/>
              </a:prstGeom>
              <a:gradFill rotWithShape="1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5400000" scaled="1"/>
              </a:gradFill>
              <a:ln w="57150" algn="ctr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14337" name="Oval 27">
                <a:extLst>
                  <a:ext uri="{FF2B5EF4-FFF2-40B4-BE49-F238E27FC236}">
                    <a16:creationId xmlns:a16="http://schemas.microsoft.com/office/drawing/2014/main" id="{060A016A-1A10-0F8C-484D-67E220A84A74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170" y="1771"/>
                <a:ext cx="1430" cy="1430"/>
              </a:xfrm>
              <a:prstGeom prst="ellipse">
                <a:avLst/>
              </a:prstGeom>
              <a:gradFill rotWithShape="1">
                <a:gsLst>
                  <a:gs pos="0">
                    <a:srgbClr val="A2A2A2"/>
                  </a:gs>
                  <a:gs pos="50000">
                    <a:srgbClr val="FFFFFF"/>
                  </a:gs>
                  <a:gs pos="100000">
                    <a:srgbClr val="A2A2A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14340" name="Oval 28">
                <a:extLst>
                  <a:ext uri="{FF2B5EF4-FFF2-40B4-BE49-F238E27FC236}">
                    <a16:creationId xmlns:a16="http://schemas.microsoft.com/office/drawing/2014/main" id="{3651A097-098A-AF8B-CE42-7A6F722C3EF0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263" y="1163"/>
                <a:ext cx="846" cy="2650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tint val="0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tint val="0"/>
                      <a:invGamma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eaLnBrk="0" hangingPunct="0">
                  <a:defRPr/>
                </a:pPr>
                <a:endParaRPr lang="en-US"/>
              </a:p>
            </p:txBody>
          </p:sp>
          <p:sp>
            <p:nvSpPr>
              <p:cNvPr id="14342" name="Oval 29">
                <a:extLst>
                  <a:ext uri="{FF2B5EF4-FFF2-40B4-BE49-F238E27FC236}">
                    <a16:creationId xmlns:a16="http://schemas.microsoft.com/office/drawing/2014/main" id="{538E944A-91E8-394E-682A-5CE0B87AC12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254" y="1167"/>
                <a:ext cx="853" cy="2642"/>
              </a:xfrm>
              <a:prstGeom prst="ellipse">
                <a:avLst/>
              </a:prstGeom>
              <a:gradFill rotWithShape="1">
                <a:gsLst>
                  <a:gs pos="0">
                    <a:srgbClr val="21B3E1"/>
                  </a:gs>
                  <a:gs pos="100000">
                    <a:srgbClr val="0F5368"/>
                  </a:gs>
                </a:gsLst>
                <a:lin ang="54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eaLnBrk="0" hangingPunct="0"/>
                <a:endParaRPr lang="en-US"/>
              </a:p>
            </p:txBody>
          </p:sp>
          <p:sp>
            <p:nvSpPr>
              <p:cNvPr id="14343" name="Oval 30">
                <a:extLst>
                  <a:ext uri="{FF2B5EF4-FFF2-40B4-BE49-F238E27FC236}">
                    <a16:creationId xmlns:a16="http://schemas.microsoft.com/office/drawing/2014/main" id="{4A06A9BE-3F80-BA40-6D56-8E00A85237C7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337" y="1163"/>
                <a:ext cx="1089" cy="2650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shade val="54118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54118"/>
                      <a:invGamma/>
                    </a:schemeClr>
                  </a:gs>
                </a:gsLst>
                <a:lin ang="189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 eaLnBrk="0" hangingPunct="0">
                  <a:defRPr/>
                </a:pPr>
                <a:endParaRPr lang="en-US"/>
              </a:p>
            </p:txBody>
          </p:sp>
          <p:sp>
            <p:nvSpPr>
              <p:cNvPr id="14344" name="Oval 31">
                <a:extLst>
                  <a:ext uri="{FF2B5EF4-FFF2-40B4-BE49-F238E27FC236}">
                    <a16:creationId xmlns:a16="http://schemas.microsoft.com/office/drawing/2014/main" id="{F9E2347B-BBB2-027F-6809-39E2E225C041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078" y="1167"/>
                <a:ext cx="1522" cy="220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38100" algn="ctr">
                <a:solidFill>
                  <a:srgbClr val="996633"/>
                </a:solidFill>
                <a:round/>
                <a:headEnd/>
                <a:tailEnd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  <a:softEdge rad="12700"/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txBody>
              <a:bodyPr anchor="ctr">
                <a:spAutoFit/>
              </a:bodyPr>
              <a:lstStyle/>
              <a:p>
                <a:pPr eaLnBrk="0" hangingPunct="0">
                  <a:defRPr/>
                </a:pPr>
                <a:endParaRPr lang="en-US">
                  <a:ln>
                    <a:solidFill>
                      <a:srgbClr val="FFC000"/>
                    </a:solidFill>
                  </a:ln>
                </a:endParaRPr>
              </a:p>
            </p:txBody>
          </p:sp>
        </p:grpSp>
      </p:grpSp>
      <p:grpSp>
        <p:nvGrpSpPr>
          <p:cNvPr id="14345" name="Group 79">
            <a:extLst>
              <a:ext uri="{FF2B5EF4-FFF2-40B4-BE49-F238E27FC236}">
                <a16:creationId xmlns:a16="http://schemas.microsoft.com/office/drawing/2014/main" id="{4E6E08F6-6350-6AE5-CC78-474C199A27A8}"/>
              </a:ext>
            </a:extLst>
          </p:cNvPr>
          <p:cNvGrpSpPr>
            <a:grpSpLocks/>
          </p:cNvGrpSpPr>
          <p:nvPr/>
        </p:nvGrpSpPr>
        <p:grpSpPr bwMode="auto">
          <a:xfrm>
            <a:off x="1249907" y="4533238"/>
            <a:ext cx="5102767" cy="654050"/>
            <a:chOff x="1870320" y="2588399"/>
            <a:chExt cx="6332725" cy="886434"/>
          </a:xfrm>
        </p:grpSpPr>
        <p:sp>
          <p:nvSpPr>
            <p:cNvPr id="14346" name="AutoShape 9">
              <a:extLst>
                <a:ext uri="{FF2B5EF4-FFF2-40B4-BE49-F238E27FC236}">
                  <a16:creationId xmlns:a16="http://schemas.microsoft.com/office/drawing/2014/main" id="{78F0D784-C8F4-9A1D-F76A-80FE7214B65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461650" y="2588399"/>
              <a:ext cx="5741395" cy="886434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r>
                <a:rPr lang="en-US" sz="2100" b="1" u="sng" dirty="0"/>
                <a:t>Selecting ICT4D Design Approach</a:t>
              </a:r>
            </a:p>
          </p:txBody>
        </p:sp>
        <p:grpSp>
          <p:nvGrpSpPr>
            <p:cNvPr id="14347" name="Group 18">
              <a:extLst>
                <a:ext uri="{FF2B5EF4-FFF2-40B4-BE49-F238E27FC236}">
                  <a16:creationId xmlns:a16="http://schemas.microsoft.com/office/drawing/2014/main" id="{196303C8-9FCC-D274-9408-9F10C5BCD3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0320" y="2687254"/>
              <a:ext cx="557935" cy="704673"/>
              <a:chOff x="1608" y="992"/>
              <a:chExt cx="2365" cy="2987"/>
            </a:xfrm>
          </p:grpSpPr>
          <p:sp>
            <p:nvSpPr>
              <p:cNvPr id="14348" name="Oval 19">
                <a:extLst>
                  <a:ext uri="{FF2B5EF4-FFF2-40B4-BE49-F238E27FC236}">
                    <a16:creationId xmlns:a16="http://schemas.microsoft.com/office/drawing/2014/main" id="{699CD2D5-9D38-DF0A-3328-B6C13D9289FA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078" y="1680"/>
                <a:ext cx="1615" cy="1615"/>
              </a:xfrm>
              <a:prstGeom prst="ellipse">
                <a:avLst/>
              </a:prstGeom>
              <a:gradFill rotWithShape="1">
                <a:gsLst>
                  <a:gs pos="0">
                    <a:srgbClr val="767676"/>
                  </a:gs>
                  <a:gs pos="50000">
                    <a:srgbClr val="FFFFFF"/>
                  </a:gs>
                  <a:gs pos="100000">
                    <a:srgbClr val="767676"/>
                  </a:gs>
                </a:gsLst>
                <a:lin ang="5400000" scaled="1"/>
              </a:gradFill>
              <a:ln w="57150" algn="ctr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14349" name="Oval 20">
                <a:extLst>
                  <a:ext uri="{FF2B5EF4-FFF2-40B4-BE49-F238E27FC236}">
                    <a16:creationId xmlns:a16="http://schemas.microsoft.com/office/drawing/2014/main" id="{D47B6104-62EE-EC75-E706-24348E0EF19A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170" y="1771"/>
                <a:ext cx="1430" cy="1430"/>
              </a:xfrm>
              <a:prstGeom prst="ellipse">
                <a:avLst/>
              </a:prstGeom>
              <a:gradFill rotWithShape="1">
                <a:gsLst>
                  <a:gs pos="0">
                    <a:srgbClr val="A2A2A2"/>
                  </a:gs>
                  <a:gs pos="50000">
                    <a:srgbClr val="FFFFFF"/>
                  </a:gs>
                  <a:gs pos="100000">
                    <a:srgbClr val="A2A2A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14350" name="Oval 21">
                <a:extLst>
                  <a:ext uri="{FF2B5EF4-FFF2-40B4-BE49-F238E27FC236}">
                    <a16:creationId xmlns:a16="http://schemas.microsoft.com/office/drawing/2014/main" id="{8A4A008C-1307-B8E5-DDB5-972435B12F31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243" y="992"/>
                <a:ext cx="1353" cy="2946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tint val="0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tint val="0"/>
                      <a:invGamma/>
                    </a:schemeClr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 eaLnBrk="0" hangingPunct="0">
                  <a:defRPr/>
                </a:pPr>
                <a:endParaRPr lang="en-US"/>
              </a:p>
            </p:txBody>
          </p:sp>
          <p:sp>
            <p:nvSpPr>
              <p:cNvPr id="14351" name="Oval 22">
                <a:extLst>
                  <a:ext uri="{FF2B5EF4-FFF2-40B4-BE49-F238E27FC236}">
                    <a16:creationId xmlns:a16="http://schemas.microsoft.com/office/drawing/2014/main" id="{E311ED28-629E-35BF-8814-C8F29EDD2686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254" y="999"/>
                <a:ext cx="1344" cy="2980"/>
              </a:xfrm>
              <a:prstGeom prst="ellipse">
                <a:avLst/>
              </a:prstGeom>
              <a:gradFill rotWithShape="1">
                <a:gsLst>
                  <a:gs pos="0">
                    <a:srgbClr val="000000"/>
                  </a:gs>
                  <a:gs pos="100000">
                    <a:srgbClr val="48BE67"/>
                  </a:gs>
                </a:gsLst>
                <a:lin ang="2700000" scaled="1"/>
              </a:gradFill>
              <a:ln w="38100" algn="ctr">
                <a:noFill/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eaLnBrk="0" hangingPunct="0"/>
                <a:endParaRPr lang="en-US"/>
              </a:p>
            </p:txBody>
          </p:sp>
          <p:sp>
            <p:nvSpPr>
              <p:cNvPr id="14352" name="Oval 23">
                <a:extLst>
                  <a:ext uri="{FF2B5EF4-FFF2-40B4-BE49-F238E27FC236}">
                    <a16:creationId xmlns:a16="http://schemas.microsoft.com/office/drawing/2014/main" id="{AA3ECFD6-ECC4-BFE4-0722-FCC71679533C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2335" y="992"/>
                <a:ext cx="1102" cy="2946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shade val="54118"/>
                      <a:invGamma/>
                    </a:schemeClr>
                  </a:gs>
                  <a:gs pos="50000">
                    <a:schemeClr val="hlink"/>
                  </a:gs>
                  <a:gs pos="100000">
                    <a:schemeClr val="hlink">
                      <a:gamma/>
                      <a:shade val="54118"/>
                      <a:invGamma/>
                    </a:schemeClr>
                  </a:gs>
                </a:gsLst>
                <a:lin ang="18900000" scaled="1"/>
              </a:gradFill>
              <a:ln w="38100" algn="ctr">
                <a:noFill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 eaLnBrk="0" hangingPunct="0">
                  <a:defRPr/>
                </a:pPr>
                <a:endParaRPr lang="en-US"/>
              </a:p>
            </p:txBody>
          </p:sp>
          <p:sp>
            <p:nvSpPr>
              <p:cNvPr id="14353" name="Oval 24">
                <a:extLst>
                  <a:ext uri="{FF2B5EF4-FFF2-40B4-BE49-F238E27FC236}">
                    <a16:creationId xmlns:a16="http://schemas.microsoft.com/office/drawing/2014/main" id="{A8640A02-4608-9B4C-E5F7-E8CA395AF654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608" y="999"/>
                <a:ext cx="2365" cy="2980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38100" algn="ctr">
                <a:solidFill>
                  <a:srgbClr val="0070C0"/>
                </a:solidFill>
                <a:round/>
                <a:headEnd/>
                <a:tailEnd/>
              </a:ln>
              <a:effectLst>
                <a:outerShdw blurRad="149987" dist="250190" dir="8460000" algn="ctr">
                  <a:srgbClr val="000000">
                    <a:alpha val="28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contrasting" dir="t">
                  <a:rot lat="0" lon="0" rev="1500000"/>
                </a:lightRig>
              </a:scene3d>
              <a:sp3d prstMaterial="metal">
                <a:bevelT w="88900" h="88900"/>
              </a:sp3d>
            </p:spPr>
            <p:txBody>
              <a:bodyPr wrap="square" anchor="ctr">
                <a:spAutoFit/>
              </a:bodyPr>
              <a:lstStyle/>
              <a:p>
                <a:pPr eaLnBrk="0" hangingPunct="0">
                  <a:defRPr/>
                </a:pPr>
                <a:endParaRPr lang="en-US"/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 txBox="1"/>
          <p:nvPr/>
        </p:nvSpPr>
        <p:spPr>
          <a:xfrm>
            <a:off x="3124200" y="5461000"/>
            <a:ext cx="2133600" cy="19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Verdana"/>
                <a:buNone/>
              </a:pPr>
              <a:t>3</a:t>
            </a:fld>
            <a:endParaRPr/>
          </a:p>
        </p:txBody>
      </p:sp>
      <p:sp>
        <p:nvSpPr>
          <p:cNvPr id="129" name="Google Shape;129;p7"/>
          <p:cNvSpPr txBox="1">
            <a:spLocks noGrp="1"/>
          </p:cNvSpPr>
          <p:nvPr>
            <p:ph type="body" idx="1"/>
          </p:nvPr>
        </p:nvSpPr>
        <p:spPr>
          <a:xfrm>
            <a:off x="0" y="2933700"/>
            <a:ext cx="91440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355600" marR="0" lvl="0" indent="-355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000"/>
              <a:buFont typeface="Noto Sans Symbols"/>
              <a:buNone/>
            </a:pPr>
            <a:r>
              <a:rPr lang="en-US" sz="5000" b="1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Recap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/>
        </p:nvSpPr>
        <p:spPr>
          <a:xfrm>
            <a:off x="3124200" y="5461000"/>
            <a:ext cx="2133600" cy="19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Verdana"/>
                <a:buNone/>
              </a:pPr>
              <a:t>4</a:t>
            </a:fld>
            <a:endParaRPr/>
          </a:p>
        </p:txBody>
      </p:sp>
      <p:sp>
        <p:nvSpPr>
          <p:cNvPr id="165" name="Google Shape;165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0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ctr" anchorCtr="0">
            <a:noAutofit/>
          </a:bodyPr>
          <a:lstStyle/>
          <a:p>
            <a:pPr lvl="0">
              <a:buClr>
                <a:schemeClr val="lt1"/>
              </a:buClr>
              <a:buSzPts val="3600"/>
            </a:pPr>
            <a:r>
              <a:rPr lang="en-US" sz="3600" dirty="0"/>
              <a:t>Recap: Overview</a:t>
            </a:r>
            <a:endParaRPr dirty="0"/>
          </a:p>
        </p:txBody>
      </p:sp>
      <p:sp>
        <p:nvSpPr>
          <p:cNvPr id="108548" name="AutoShape 4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0" name="AutoShape 6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2" name="AutoShape 8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6" name="AutoShape 12" descr="Image result for bricks hous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Google Shape;208;p17"/>
          <p:cNvSpPr txBox="1">
            <a:spLocks noGrp="1"/>
          </p:cNvSpPr>
          <p:nvPr>
            <p:ph type="body" idx="1"/>
          </p:nvPr>
        </p:nvSpPr>
        <p:spPr>
          <a:xfrm>
            <a:off x="0" y="1281513"/>
            <a:ext cx="4731834" cy="719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522288" lvl="1" indent="-457200" algn="just">
              <a:spcBef>
                <a:spcPts val="1200"/>
              </a:spcBef>
              <a:buSzPts val="2400"/>
              <a:buNone/>
            </a:pPr>
            <a:r>
              <a:rPr lang="en-US" sz="2400" i="1" dirty="0"/>
              <a:t>Policy</a:t>
            </a:r>
          </a:p>
        </p:txBody>
      </p:sp>
      <p:sp>
        <p:nvSpPr>
          <p:cNvPr id="11" name="Google Shape;208;p17"/>
          <p:cNvSpPr txBox="1">
            <a:spLocks/>
          </p:cNvSpPr>
          <p:nvPr/>
        </p:nvSpPr>
        <p:spPr>
          <a:xfrm>
            <a:off x="4861931" y="2049617"/>
            <a:ext cx="3843453" cy="719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522288" marR="0" lvl="1" indent="-45720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tabLst/>
              <a:defRPr/>
            </a:pP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Laws &amp; Regulations</a:t>
            </a:r>
          </a:p>
        </p:txBody>
      </p:sp>
      <p:sp>
        <p:nvSpPr>
          <p:cNvPr id="12" name="Google Shape;208;p17"/>
          <p:cNvSpPr txBox="1">
            <a:spLocks/>
          </p:cNvSpPr>
          <p:nvPr/>
        </p:nvSpPr>
        <p:spPr>
          <a:xfrm>
            <a:off x="0" y="2811618"/>
            <a:ext cx="2237678" cy="719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522288" marR="0" lvl="1" indent="-45720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tabLst/>
              <a:defRPr/>
            </a:pP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Strategies</a:t>
            </a:r>
          </a:p>
        </p:txBody>
      </p:sp>
      <p:sp>
        <p:nvSpPr>
          <p:cNvPr id="13" name="Google Shape;208;p17"/>
          <p:cNvSpPr txBox="1">
            <a:spLocks/>
          </p:cNvSpPr>
          <p:nvPr/>
        </p:nvSpPr>
        <p:spPr>
          <a:xfrm>
            <a:off x="4966010" y="3722299"/>
            <a:ext cx="2237678" cy="719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522288" marR="0" lvl="1" indent="-45720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tabLst/>
              <a:defRPr/>
            </a:pPr>
            <a:r>
              <a:rPr kumimoji="0" lang="en-US" sz="2400" b="0" i="1" u="none" strike="noStrike" kern="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Programmes</a:t>
            </a:r>
            <a:endParaRPr kumimoji="0" lang="en-US" sz="2400" b="0" i="1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208;p17"/>
          <p:cNvSpPr txBox="1">
            <a:spLocks/>
          </p:cNvSpPr>
          <p:nvPr/>
        </p:nvSpPr>
        <p:spPr>
          <a:xfrm>
            <a:off x="0" y="4714758"/>
            <a:ext cx="2237678" cy="719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522288" marR="0" lvl="1" indent="-45720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tabLst/>
              <a:defRPr/>
            </a:pP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Projects</a:t>
            </a:r>
          </a:p>
        </p:txBody>
      </p:sp>
      <p:cxnSp>
        <p:nvCxnSpPr>
          <p:cNvPr id="16" name="Curved Connector 15"/>
          <p:cNvCxnSpPr>
            <a:endCxn id="11" idx="1"/>
          </p:cNvCxnSpPr>
          <p:nvPr/>
        </p:nvCxnSpPr>
        <p:spPr>
          <a:xfrm>
            <a:off x="1241502" y="1657815"/>
            <a:ext cx="3620429" cy="751604"/>
          </a:xfrm>
          <a:prstGeom prst="curvedConnector3">
            <a:avLst>
              <a:gd name="adj1" fmla="val 50000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urved Connector 17"/>
          <p:cNvCxnSpPr/>
          <p:nvPr/>
        </p:nvCxnSpPr>
        <p:spPr>
          <a:xfrm rot="10800000" flipV="1">
            <a:off x="1605777" y="2542476"/>
            <a:ext cx="3218987" cy="691377"/>
          </a:xfrm>
          <a:prstGeom prst="curvedConnector3">
            <a:avLst>
              <a:gd name="adj1" fmla="val 50000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urved Connector 22"/>
          <p:cNvCxnSpPr/>
          <p:nvPr/>
        </p:nvCxnSpPr>
        <p:spPr>
          <a:xfrm>
            <a:off x="1557453" y="3334215"/>
            <a:ext cx="3475464" cy="791736"/>
          </a:xfrm>
          <a:prstGeom prst="curvedConnector3">
            <a:avLst>
              <a:gd name="adj1" fmla="val 50000"/>
            </a:avLst>
          </a:prstGeom>
          <a:ln w="3810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4"/>
          <p:cNvCxnSpPr/>
          <p:nvPr/>
        </p:nvCxnSpPr>
        <p:spPr>
          <a:xfrm rot="10800000" flipV="1">
            <a:off x="1282393" y="4230028"/>
            <a:ext cx="3668748" cy="932985"/>
          </a:xfrm>
          <a:prstGeom prst="curvedConnector3">
            <a:avLst>
              <a:gd name="adj1" fmla="val 50000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Google Shape;208;p17"/>
          <p:cNvSpPr txBox="1">
            <a:spLocks/>
          </p:cNvSpPr>
          <p:nvPr/>
        </p:nvSpPr>
        <p:spPr>
          <a:xfrm>
            <a:off x="1022193" y="1173718"/>
            <a:ext cx="7378391" cy="565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522288" marR="0" lvl="1" indent="-45720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tabLst/>
              <a:defRPr/>
            </a:pPr>
            <a:r>
              <a:rPr lang="en-US" sz="1600" i="1" dirty="0">
                <a:solidFill>
                  <a:schemeClr val="dk1"/>
                </a:solidFill>
              </a:rPr>
              <a:t>National framework policies and sector policies</a:t>
            </a:r>
            <a:endParaRPr kumimoji="0" lang="en-US" sz="1600" b="0" i="1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08;p17"/>
          <p:cNvSpPr txBox="1">
            <a:spLocks/>
          </p:cNvSpPr>
          <p:nvPr/>
        </p:nvSpPr>
        <p:spPr>
          <a:xfrm>
            <a:off x="4906535" y="2463542"/>
            <a:ext cx="4059046" cy="762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522288" marR="0" lvl="1" indent="-45720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tabLst/>
              <a:defRPr/>
            </a:pPr>
            <a:r>
              <a:rPr lang="en-US" sz="1600" i="1" dirty="0">
                <a:solidFill>
                  <a:schemeClr val="dk1"/>
                </a:solidFill>
              </a:rPr>
              <a:t>National and sector-wise legal and regulatory framework</a:t>
            </a:r>
            <a:endParaRPr kumimoji="0" lang="en-US" sz="1600" b="0" i="1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08;p17"/>
          <p:cNvSpPr txBox="1">
            <a:spLocks/>
          </p:cNvSpPr>
          <p:nvPr/>
        </p:nvSpPr>
        <p:spPr>
          <a:xfrm>
            <a:off x="156114" y="3218112"/>
            <a:ext cx="2579649" cy="762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58738" marR="0" lvl="1" indent="635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tabLst/>
              <a:defRPr/>
            </a:pPr>
            <a:r>
              <a:rPr lang="en-US" sz="1600" i="1" dirty="0">
                <a:solidFill>
                  <a:schemeClr val="dk1"/>
                </a:solidFill>
              </a:rPr>
              <a:t>National and sector-wise strategic framework</a:t>
            </a:r>
            <a:endParaRPr kumimoji="0" lang="en-US" sz="1600" b="0" i="1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208;p17"/>
          <p:cNvSpPr txBox="1">
            <a:spLocks/>
          </p:cNvSpPr>
          <p:nvPr/>
        </p:nvSpPr>
        <p:spPr>
          <a:xfrm>
            <a:off x="5073804" y="4299776"/>
            <a:ext cx="4070195" cy="577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58738" marR="0" lvl="1" indent="6350" algn="just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tabLst/>
              <a:defRPr/>
            </a:pPr>
            <a:r>
              <a:rPr lang="en-US" sz="1600" i="1" dirty="0">
                <a:solidFill>
                  <a:schemeClr val="dk1"/>
                </a:solidFill>
              </a:rPr>
              <a:t>Long-term implementation of the strategy</a:t>
            </a:r>
            <a:endParaRPr kumimoji="0" lang="en-US" sz="1600" b="0" i="1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208;p17"/>
          <p:cNvSpPr txBox="1">
            <a:spLocks/>
          </p:cNvSpPr>
          <p:nvPr/>
        </p:nvSpPr>
        <p:spPr>
          <a:xfrm>
            <a:off x="-7430" y="5182580"/>
            <a:ext cx="4456771" cy="400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58738" marR="0" lvl="1" indent="6350" algn="just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tabLst/>
              <a:defRPr/>
            </a:pPr>
            <a:r>
              <a:rPr lang="en-US" sz="1600" i="1" dirty="0">
                <a:solidFill>
                  <a:schemeClr val="dk1"/>
                </a:solidFill>
              </a:rPr>
              <a:t>Short-term implementation of the strategy</a:t>
            </a:r>
            <a:endParaRPr kumimoji="0" lang="en-US" sz="1600" b="0" i="1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" name="Curved Connector 31"/>
          <p:cNvCxnSpPr/>
          <p:nvPr/>
        </p:nvCxnSpPr>
        <p:spPr>
          <a:xfrm rot="16200000" flipH="1">
            <a:off x="-676508" y="4081346"/>
            <a:ext cx="1724726" cy="29739"/>
          </a:xfrm>
          <a:prstGeom prst="curvedConnector3">
            <a:avLst>
              <a:gd name="adj1" fmla="val 50000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/>
        </p:nvSpPr>
        <p:spPr>
          <a:xfrm>
            <a:off x="3124200" y="5461000"/>
            <a:ext cx="2133600" cy="19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Verdana"/>
                <a:buNone/>
              </a:pPr>
              <a:t>5</a:t>
            </a:fld>
            <a:endParaRPr dirty="0"/>
          </a:p>
        </p:txBody>
      </p:sp>
      <p:sp>
        <p:nvSpPr>
          <p:cNvPr id="108548" name="AutoShape 4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0" name="AutoShape 6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2" name="AutoShape 8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6" name="AutoShape 12" descr="Image result for bricks hous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Google Shape;208;p17"/>
          <p:cNvSpPr txBox="1">
            <a:spLocks/>
          </p:cNvSpPr>
          <p:nvPr/>
        </p:nvSpPr>
        <p:spPr>
          <a:xfrm>
            <a:off x="0" y="1124732"/>
            <a:ext cx="3632886" cy="1062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55563" lvl="1" indent="9525" algn="just">
              <a:spcBef>
                <a:spcPts val="1200"/>
              </a:spcBef>
              <a:buClr>
                <a:schemeClr val="accent1"/>
              </a:buClr>
              <a:buSzPts val="2400"/>
              <a:tabLst>
                <a:tab pos="55563" algn="l"/>
              </a:tabLst>
            </a:pPr>
            <a:r>
              <a:rPr lang="en-US" sz="2400" b="1" i="1" dirty="0">
                <a:solidFill>
                  <a:schemeClr val="dk1"/>
                </a:solidFill>
              </a:rPr>
              <a:t>The steps of ICT4D strategy</a:t>
            </a:r>
            <a:endParaRPr kumimoji="0" lang="en-US" sz="2400" b="1" i="1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971" name="Picture 3"/>
          <p:cNvPicPr>
            <a:picLocks noChangeAspect="1" noChangeArrowheads="1"/>
          </p:cNvPicPr>
          <p:nvPr/>
        </p:nvPicPr>
        <p:blipFill>
          <a:blip r:embed="rId3"/>
          <a:srcRect l="19848" t="12162" r="30606" b="5091"/>
          <a:stretch>
            <a:fillRect/>
          </a:stretch>
        </p:blipFill>
        <p:spPr bwMode="auto">
          <a:xfrm>
            <a:off x="4226011" y="1099414"/>
            <a:ext cx="4917989" cy="4620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Google Shape;165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0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ctr" anchorCtr="0">
            <a:noAutofit/>
          </a:bodyPr>
          <a:lstStyle/>
          <a:p>
            <a:pPr lvl="0">
              <a:buClr>
                <a:schemeClr val="lt1"/>
              </a:buClr>
              <a:buSzPts val="3600"/>
            </a:pPr>
            <a:r>
              <a:rPr lang="en-US" sz="3600" dirty="0"/>
              <a:t>Recap: </a:t>
            </a:r>
            <a:r>
              <a:rPr lang="en-US" sz="3600" b="1" i="0" u="none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ICT4D Strategy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0"/>
          <p:cNvSpPr txBox="1"/>
          <p:nvPr/>
        </p:nvSpPr>
        <p:spPr>
          <a:xfrm>
            <a:off x="3124200" y="5461000"/>
            <a:ext cx="2133600" cy="1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Verdana"/>
                <a:buNone/>
              </a:pPr>
              <a:t>6</a:t>
            </a:fld>
            <a:endParaRPr/>
          </a:p>
        </p:txBody>
      </p:sp>
      <p:sp>
        <p:nvSpPr>
          <p:cNvPr id="309" name="Google Shape;309;p3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ctr" anchorCtr="0">
            <a:noAutofit/>
          </a:bodyPr>
          <a:lstStyle/>
          <a:p>
            <a:pPr lvl="0">
              <a:buClr>
                <a:schemeClr val="lt1"/>
              </a:buClr>
              <a:buSzPts val="3600"/>
            </a:pPr>
            <a:r>
              <a:rPr lang="en-US" sz="3600" dirty="0"/>
              <a:t>Recap: ICT4D Projects</a:t>
            </a:r>
            <a:endParaRPr dirty="0"/>
          </a:p>
        </p:txBody>
      </p:sp>
      <p:sp>
        <p:nvSpPr>
          <p:cNvPr id="5" name="Google Shape;208;p17"/>
          <p:cNvSpPr txBox="1">
            <a:spLocks/>
          </p:cNvSpPr>
          <p:nvPr/>
        </p:nvSpPr>
        <p:spPr>
          <a:xfrm>
            <a:off x="0" y="1124732"/>
            <a:ext cx="6146800" cy="673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55563" lvl="1" indent="9525" algn="just">
              <a:spcBef>
                <a:spcPts val="1200"/>
              </a:spcBef>
              <a:buClr>
                <a:schemeClr val="accent1"/>
              </a:buClr>
              <a:buSzPts val="2400"/>
              <a:tabLst>
                <a:tab pos="55563" algn="l"/>
              </a:tabLst>
            </a:pPr>
            <a:r>
              <a:rPr lang="en-US" sz="2400" b="1" i="1" dirty="0">
                <a:solidFill>
                  <a:schemeClr val="dk1"/>
                </a:solidFill>
              </a:rPr>
              <a:t>Design of ICT4D Project: The Process</a:t>
            </a:r>
            <a:endParaRPr kumimoji="0" lang="en-US" sz="2400" b="1" i="1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406400" y="2044700"/>
            <a:ext cx="2832100" cy="584200"/>
          </a:xfrm>
          <a:prstGeom prst="round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Involve users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400" y="3337354"/>
            <a:ext cx="2832100" cy="584200"/>
          </a:xfrm>
          <a:prstGeom prst="round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Iterate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400" y="4630008"/>
            <a:ext cx="2832100" cy="1026292"/>
          </a:xfrm>
          <a:prstGeom prst="round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Make evidence-based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78200" y="1930400"/>
            <a:ext cx="5626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Informing, consulting, cooperating, co-creating, producing, controlling. Advantages?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0900" y="3239068"/>
            <a:ext cx="5626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Use, modify, and extend existing tools, platforms, and frameworks when possible.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78200" y="4731839"/>
            <a:ext cx="5626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Move from subjective to the reflective and objective decision making.</a:t>
            </a:r>
          </a:p>
        </p:txBody>
      </p:sp>
    </p:spTree>
    <p:extLst>
      <p:ext uri="{BB962C8B-B14F-4D97-AF65-F5344CB8AC3E}">
        <p14:creationId xmlns:p14="http://schemas.microsoft.com/office/powerpoint/2010/main" val="2734815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/>
        </p:nvSpPr>
        <p:spPr>
          <a:xfrm>
            <a:off x="3124200" y="5461000"/>
            <a:ext cx="2133600" cy="19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Verdana"/>
                <a:buNone/>
              </a:pPr>
              <a:t>7</a:t>
            </a:fld>
            <a:endParaRPr dirty="0"/>
          </a:p>
        </p:txBody>
      </p:sp>
      <p:sp>
        <p:nvSpPr>
          <p:cNvPr id="108548" name="AutoShape 4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0" name="AutoShape 6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2" name="AutoShape 8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6" name="AutoShape 12" descr="Image result for bricks hous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Google Shape;309;p3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ctr" anchorCtr="0">
            <a:noAutofit/>
          </a:bodyPr>
          <a:lstStyle/>
          <a:p>
            <a:pPr lvl="0">
              <a:buClr>
                <a:schemeClr val="lt1"/>
              </a:buClr>
              <a:buSzPts val="3600"/>
            </a:pPr>
            <a:r>
              <a:rPr lang="en-US" sz="3600" dirty="0"/>
              <a:t>Recap: ICT4D Projects…</a:t>
            </a: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20182" t="28646" r="20182" b="9202"/>
          <a:stretch/>
        </p:blipFill>
        <p:spPr>
          <a:xfrm>
            <a:off x="2882900" y="1143000"/>
            <a:ext cx="6261100" cy="4546600"/>
          </a:xfrm>
          <a:prstGeom prst="rect">
            <a:avLst/>
          </a:prstGeom>
        </p:spPr>
      </p:pic>
      <p:sp>
        <p:nvSpPr>
          <p:cNvPr id="13" name="Google Shape;208;p17"/>
          <p:cNvSpPr txBox="1">
            <a:spLocks/>
          </p:cNvSpPr>
          <p:nvPr/>
        </p:nvSpPr>
        <p:spPr>
          <a:xfrm>
            <a:off x="0" y="1173765"/>
            <a:ext cx="2463800" cy="1403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2750" algn="l" rtl="0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hlink"/>
              </a:buClr>
              <a:buSzPts val="2900"/>
              <a:buFont typeface="Noto Sans Symbols"/>
              <a:buChar char="⮚"/>
              <a:defRPr sz="2900" b="1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2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1" indent="65088" algn="just">
              <a:spcBef>
                <a:spcPts val="1200"/>
              </a:spcBef>
              <a:buSzPts val="2400"/>
              <a:buNone/>
            </a:pPr>
            <a:r>
              <a:rPr lang="en-US" sz="2400" b="1" i="1" dirty="0"/>
              <a:t>ICT4D Project Implementation Principles</a:t>
            </a:r>
          </a:p>
        </p:txBody>
      </p:sp>
    </p:spTree>
    <p:extLst>
      <p:ext uri="{BB962C8B-B14F-4D97-AF65-F5344CB8AC3E}">
        <p14:creationId xmlns:p14="http://schemas.microsoft.com/office/powerpoint/2010/main" val="1414674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/>
        </p:nvSpPr>
        <p:spPr>
          <a:xfrm>
            <a:off x="3124200" y="5461000"/>
            <a:ext cx="2133600" cy="19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Verdana"/>
                <a:buNone/>
              </a:pPr>
              <a:t>8</a:t>
            </a:fld>
            <a:endParaRPr dirty="0"/>
          </a:p>
        </p:txBody>
      </p:sp>
      <p:sp>
        <p:nvSpPr>
          <p:cNvPr id="108548" name="AutoShape 4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0" name="AutoShape 6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2" name="AutoShape 8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6" name="AutoShape 12" descr="Image result for bricks hous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Google Shape;309;p3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ctr" anchorCtr="0">
            <a:noAutofit/>
          </a:bodyPr>
          <a:lstStyle/>
          <a:p>
            <a:pPr lvl="0">
              <a:buClr>
                <a:schemeClr val="lt1"/>
              </a:buClr>
              <a:buSzPts val="3600"/>
            </a:pPr>
            <a:r>
              <a:rPr lang="en-US" sz="3600" dirty="0"/>
              <a:t>Recap: ICT4D Projects…</a:t>
            </a: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12630" t="23264" r="16406" b="5556"/>
          <a:stretch/>
        </p:blipFill>
        <p:spPr>
          <a:xfrm>
            <a:off x="1727200" y="1173766"/>
            <a:ext cx="6036518" cy="4541234"/>
          </a:xfrm>
          <a:prstGeom prst="rect">
            <a:avLst/>
          </a:prstGeom>
        </p:spPr>
      </p:pic>
      <p:sp>
        <p:nvSpPr>
          <p:cNvPr id="15" name="Google Shape;310;p30"/>
          <p:cNvSpPr txBox="1">
            <a:spLocks/>
          </p:cNvSpPr>
          <p:nvPr/>
        </p:nvSpPr>
        <p:spPr>
          <a:xfrm>
            <a:off x="155575" y="2945333"/>
            <a:ext cx="1571625" cy="1334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269875" marR="0" lvl="2" indent="-269875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dk1"/>
              </a:buClr>
              <a:buSzPts val="2400"/>
              <a:buFont typeface="Arial"/>
              <a:buChar char="•"/>
              <a:tabLst/>
              <a:defRPr/>
            </a:pPr>
            <a:r>
              <a:rPr lang="en-US" sz="2000" dirty="0">
                <a:solidFill>
                  <a:schemeClr val="dk1"/>
                </a:solidFill>
              </a:rPr>
              <a:t>Principles</a:t>
            </a:r>
          </a:p>
        </p:txBody>
      </p:sp>
      <p:sp>
        <p:nvSpPr>
          <p:cNvPr id="16" name="Google Shape;208;p17"/>
          <p:cNvSpPr txBox="1">
            <a:spLocks/>
          </p:cNvSpPr>
          <p:nvPr/>
        </p:nvSpPr>
        <p:spPr>
          <a:xfrm>
            <a:off x="0" y="1110266"/>
            <a:ext cx="3721100" cy="62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2750" algn="l" rtl="0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hlink"/>
              </a:buClr>
              <a:buSzPts val="2900"/>
              <a:buFont typeface="Noto Sans Symbols"/>
              <a:buChar char="⮚"/>
              <a:defRPr sz="2900" b="1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2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1" indent="65088" algn="just">
              <a:spcBef>
                <a:spcPts val="1200"/>
              </a:spcBef>
              <a:buSzPts val="2400"/>
              <a:buNone/>
            </a:pPr>
            <a:r>
              <a:rPr lang="en-US" sz="2400" b="1" i="1" dirty="0"/>
              <a:t>ICT4D Project Lifecycle</a:t>
            </a:r>
          </a:p>
        </p:txBody>
      </p:sp>
      <p:sp>
        <p:nvSpPr>
          <p:cNvPr id="4" name="Rounded Rectangular Callout 3"/>
          <p:cNvSpPr/>
          <p:nvPr/>
        </p:nvSpPr>
        <p:spPr>
          <a:xfrm>
            <a:off x="6527800" y="36413"/>
            <a:ext cx="1612900" cy="1765300"/>
          </a:xfrm>
          <a:prstGeom prst="wedgeRoundRectCallout">
            <a:avLst>
              <a:gd name="adj1" fmla="val -114130"/>
              <a:gd name="adj2" fmla="val 2940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Problems and opportunities; possible ICT4D projects; basic project parameters; and feasible</a:t>
            </a:r>
          </a:p>
        </p:txBody>
      </p:sp>
      <p:sp>
        <p:nvSpPr>
          <p:cNvPr id="18" name="Rounded Rectangular Callout 17"/>
          <p:cNvSpPr/>
          <p:nvPr/>
        </p:nvSpPr>
        <p:spPr>
          <a:xfrm>
            <a:off x="7835900" y="2146300"/>
            <a:ext cx="1308100" cy="1478966"/>
          </a:xfrm>
          <a:prstGeom prst="wedgeRoundRectCallout">
            <a:avLst>
              <a:gd name="adj1" fmla="val -69264"/>
              <a:gd name="adj2" fmla="val 2597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Technology, capabilities, context, needs, issues</a:t>
            </a:r>
          </a:p>
        </p:txBody>
      </p:sp>
      <p:sp>
        <p:nvSpPr>
          <p:cNvPr id="19" name="Rounded Rectangular Callout 18"/>
          <p:cNvSpPr/>
          <p:nvPr/>
        </p:nvSpPr>
        <p:spPr>
          <a:xfrm>
            <a:off x="7486650" y="4236034"/>
            <a:ext cx="1657350" cy="1478966"/>
          </a:xfrm>
          <a:prstGeom prst="wedgeRoundRectCallout">
            <a:avLst>
              <a:gd name="adj1" fmla="val -82856"/>
              <a:gd name="adj2" fmla="val 2769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Setting objective; describing in general and then specific technical and social elements</a:t>
            </a:r>
          </a:p>
        </p:txBody>
      </p:sp>
      <p:sp>
        <p:nvSpPr>
          <p:cNvPr id="20" name="Rounded Rectangular Callout 19"/>
          <p:cNvSpPr/>
          <p:nvPr/>
        </p:nvSpPr>
        <p:spPr>
          <a:xfrm>
            <a:off x="359618" y="4177296"/>
            <a:ext cx="1657350" cy="1478966"/>
          </a:xfrm>
          <a:prstGeom prst="wedgeRoundRectCallout">
            <a:avLst>
              <a:gd name="adj1" fmla="val 72700"/>
              <a:gd name="adj2" fmla="val 2167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Acquiring any new technological infrastructure; building and testing the new system</a:t>
            </a:r>
          </a:p>
        </p:txBody>
      </p:sp>
      <p:sp>
        <p:nvSpPr>
          <p:cNvPr id="21" name="Rounded Rectangular Callout 20"/>
          <p:cNvSpPr/>
          <p:nvPr/>
        </p:nvSpPr>
        <p:spPr>
          <a:xfrm>
            <a:off x="124247" y="2004725"/>
            <a:ext cx="1657350" cy="937524"/>
          </a:xfrm>
          <a:prstGeom prst="wedgeRoundRectCallout">
            <a:avLst>
              <a:gd name="adj1" fmla="val 60439"/>
              <a:gd name="adj2" fmla="val 4064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Training users; acquiring data; introducing the new system</a:t>
            </a:r>
          </a:p>
        </p:txBody>
      </p:sp>
    </p:spTree>
    <p:extLst>
      <p:ext uri="{BB962C8B-B14F-4D97-AF65-F5344CB8AC3E}">
        <p14:creationId xmlns:p14="http://schemas.microsoft.com/office/powerpoint/2010/main" val="218815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0"/>
          <p:cNvSpPr txBox="1"/>
          <p:nvPr/>
        </p:nvSpPr>
        <p:spPr>
          <a:xfrm>
            <a:off x="3124200" y="5461000"/>
            <a:ext cx="2133600" cy="1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Verdana"/>
                <a:buNone/>
              </a:pPr>
              <a:t>9</a:t>
            </a:fld>
            <a:endParaRPr/>
          </a:p>
        </p:txBody>
      </p:sp>
      <p:sp>
        <p:nvSpPr>
          <p:cNvPr id="309" name="Google Shape;309;p3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ctr" anchorCtr="0">
            <a:noAutofit/>
          </a:bodyPr>
          <a:lstStyle/>
          <a:p>
            <a:pPr lvl="0">
              <a:buClr>
                <a:schemeClr val="lt1"/>
              </a:buClr>
              <a:buSzPts val="3600"/>
            </a:pPr>
            <a:r>
              <a:rPr lang="en-US" sz="3600" dirty="0"/>
              <a:t>Recap: ICT4D Projects…</a:t>
            </a:r>
            <a:endParaRPr dirty="0"/>
          </a:p>
        </p:txBody>
      </p:sp>
      <p:sp>
        <p:nvSpPr>
          <p:cNvPr id="8" name="Google Shape;208;p17"/>
          <p:cNvSpPr txBox="1">
            <a:spLocks/>
          </p:cNvSpPr>
          <p:nvPr/>
        </p:nvSpPr>
        <p:spPr>
          <a:xfrm>
            <a:off x="0" y="2145866"/>
            <a:ext cx="2700524" cy="715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447675" marR="0" lvl="1" indent="-447675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tabLst/>
              <a:defRPr/>
            </a:pPr>
            <a:r>
              <a:rPr lang="en-US" sz="2400" i="1" dirty="0">
                <a:solidFill>
                  <a:schemeClr val="dk1"/>
                </a:solidFill>
              </a:rPr>
              <a:t>The Hybrid Model</a:t>
            </a:r>
            <a:endParaRPr kumimoji="0" lang="en-US" sz="2400" b="0" i="1" u="sng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9850" y="2780386"/>
            <a:ext cx="2560824" cy="889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Three tension that the manager face. </a:t>
            </a:r>
          </a:p>
        </p:txBody>
      </p:sp>
      <p:sp>
        <p:nvSpPr>
          <p:cNvPr id="10" name="Google Shape;208;p17"/>
          <p:cNvSpPr txBox="1">
            <a:spLocks/>
          </p:cNvSpPr>
          <p:nvPr/>
        </p:nvSpPr>
        <p:spPr>
          <a:xfrm>
            <a:off x="0" y="1124732"/>
            <a:ext cx="4445000" cy="673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55563" lvl="1" indent="9525" algn="just">
              <a:spcBef>
                <a:spcPts val="1200"/>
              </a:spcBef>
              <a:buClr>
                <a:schemeClr val="accent1"/>
              </a:buClr>
              <a:buSzPts val="2400"/>
              <a:tabLst>
                <a:tab pos="55563" algn="l"/>
              </a:tabLst>
            </a:pPr>
            <a:r>
              <a:rPr lang="en-US" sz="2400" b="1" i="1" dirty="0">
                <a:solidFill>
                  <a:schemeClr val="dk1"/>
                </a:solidFill>
              </a:rPr>
              <a:t>ICT4D Project Management</a:t>
            </a:r>
            <a:endParaRPr kumimoji="0" lang="en-US" sz="2400" b="1" i="1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0" y="1684020"/>
            <a:ext cx="5314571" cy="3830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896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0"/>
          <p:cNvSpPr txBox="1"/>
          <p:nvPr/>
        </p:nvSpPr>
        <p:spPr>
          <a:xfrm>
            <a:off x="3124200" y="5461000"/>
            <a:ext cx="2133600" cy="1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Verdana"/>
                <a:buNone/>
              </a:pPr>
              <a:t>10</a:t>
            </a:fld>
            <a:endParaRPr/>
          </a:p>
        </p:txBody>
      </p:sp>
      <p:sp>
        <p:nvSpPr>
          <p:cNvPr id="309" name="Google Shape;309;p3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ctr" anchorCtr="0">
            <a:noAutofit/>
          </a:bodyPr>
          <a:lstStyle/>
          <a:p>
            <a:pPr lvl="0">
              <a:buClr>
                <a:schemeClr val="lt1"/>
              </a:buClr>
              <a:buSzPts val="3600"/>
            </a:pPr>
            <a:r>
              <a:rPr lang="en-US" sz="3600" dirty="0"/>
              <a:t>ICT4D Projects…</a:t>
            </a:r>
            <a:endParaRPr dirty="0"/>
          </a:p>
        </p:txBody>
      </p:sp>
      <p:sp>
        <p:nvSpPr>
          <p:cNvPr id="8" name="Google Shape;208;p17"/>
          <p:cNvSpPr txBox="1">
            <a:spLocks/>
          </p:cNvSpPr>
          <p:nvPr/>
        </p:nvSpPr>
        <p:spPr>
          <a:xfrm>
            <a:off x="0" y="2553795"/>
            <a:ext cx="3458817" cy="674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447675" marR="0" lvl="1" indent="-447675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tabLst/>
              <a:defRPr/>
            </a:pPr>
            <a:r>
              <a:rPr lang="en-US" sz="2400" i="1" dirty="0">
                <a:solidFill>
                  <a:schemeClr val="dk1"/>
                </a:solidFill>
              </a:rPr>
              <a:t>The Use of Champions</a:t>
            </a:r>
            <a:endParaRPr kumimoji="0" lang="en-US" sz="2400" b="0" i="1" u="sng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0564" y="3577103"/>
            <a:ext cx="3275959" cy="19104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The person (or group) who drives the ICT4D initiative forward and seeks to justify its implementation</a:t>
            </a:r>
          </a:p>
        </p:txBody>
      </p:sp>
      <p:sp>
        <p:nvSpPr>
          <p:cNvPr id="10" name="Google Shape;208;p17"/>
          <p:cNvSpPr txBox="1">
            <a:spLocks/>
          </p:cNvSpPr>
          <p:nvPr/>
        </p:nvSpPr>
        <p:spPr>
          <a:xfrm>
            <a:off x="0" y="1124732"/>
            <a:ext cx="4445000" cy="673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55563" lvl="1" indent="9525" algn="just">
              <a:spcBef>
                <a:spcPts val="1200"/>
              </a:spcBef>
              <a:buClr>
                <a:schemeClr val="accent1"/>
              </a:buClr>
              <a:buSzPts val="2400"/>
              <a:tabLst>
                <a:tab pos="55563" algn="l"/>
              </a:tabLst>
            </a:pPr>
            <a:r>
              <a:rPr lang="en-US" sz="2400" b="1" i="1" dirty="0">
                <a:solidFill>
                  <a:schemeClr val="dk1"/>
                </a:solidFill>
              </a:rPr>
              <a:t>ICT4D Project Management</a:t>
            </a:r>
            <a:endParaRPr kumimoji="0" lang="en-US" sz="2400" b="1" i="1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6" name="Picture 2" descr="https://d3i71xaburhd42.cloudfront.net/7e1805bfa8fa8a98853ee689bdc3dd933eb61e90/11-Figure1-1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36"/>
          <a:stretch/>
        </p:blipFill>
        <p:spPr bwMode="auto">
          <a:xfrm>
            <a:off x="3821628" y="1785208"/>
            <a:ext cx="5322372" cy="3675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0977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/>
        </p:nvSpPr>
        <p:spPr>
          <a:xfrm>
            <a:off x="3124200" y="5461000"/>
            <a:ext cx="2133600" cy="19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Verdana"/>
                <a:buNone/>
              </a:pPr>
              <a:t>11</a:t>
            </a:fld>
            <a:endParaRPr/>
          </a:p>
        </p:txBody>
      </p:sp>
      <p:sp>
        <p:nvSpPr>
          <p:cNvPr id="108548" name="AutoShape 4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0" name="AutoShape 6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2" name="AutoShape 8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6" name="AutoShape 12" descr="Image result for bricks hous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7586" name="Picture 2" descr="Image result for sketches of technology"/>
          <p:cNvPicPr>
            <a:picLocks noChangeAspect="1" noChangeArrowheads="1"/>
          </p:cNvPicPr>
          <p:nvPr/>
        </p:nvPicPr>
        <p:blipFill>
          <a:blip r:embed="rId3"/>
          <a:srcRect l="4808" r="4625"/>
          <a:stretch>
            <a:fillRect/>
          </a:stretch>
        </p:blipFill>
        <p:spPr bwMode="auto">
          <a:xfrm>
            <a:off x="2884448" y="1107306"/>
            <a:ext cx="6259552" cy="4607694"/>
          </a:xfrm>
          <a:prstGeom prst="rect">
            <a:avLst/>
          </a:prstGeom>
          <a:noFill/>
        </p:spPr>
      </p:pic>
      <p:sp>
        <p:nvSpPr>
          <p:cNvPr id="13" name="Google Shape;310;p30"/>
          <p:cNvSpPr txBox="1">
            <a:spLocks/>
          </p:cNvSpPr>
          <p:nvPr/>
        </p:nvSpPr>
        <p:spPr>
          <a:xfrm>
            <a:off x="110956" y="2293479"/>
            <a:ext cx="2479844" cy="1795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lvl="2" algn="just">
              <a:spcBef>
                <a:spcPts val="1200"/>
              </a:spcBef>
              <a:spcAft>
                <a:spcPts val="600"/>
              </a:spcAft>
              <a:buClr>
                <a:schemeClr val="dk1"/>
              </a:buClr>
              <a:buSzPts val="2400"/>
              <a:defRPr/>
            </a:pPr>
            <a:r>
              <a:rPr kumimoji="0" lang="en-US" sz="2400" b="0" i="0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sym typeface="Arial"/>
              </a:rPr>
              <a:t>Design-Reality Gap framework </a:t>
            </a:r>
            <a:r>
              <a:rPr lang="en-US" sz="2400" dirty="0">
                <a:solidFill>
                  <a:schemeClr val="dk1"/>
                </a:solidFill>
              </a:rPr>
              <a:t>was developed by </a:t>
            </a:r>
            <a:r>
              <a:rPr lang="en-US" sz="2400" dirty="0" err="1">
                <a:solidFill>
                  <a:schemeClr val="dk1"/>
                </a:solidFill>
              </a:rPr>
              <a:t>Heeks</a:t>
            </a:r>
            <a:r>
              <a:rPr lang="en-US" sz="2400" dirty="0">
                <a:solidFill>
                  <a:schemeClr val="dk1"/>
                </a:solidFill>
              </a:rPr>
              <a:t> (2002)</a:t>
            </a:r>
            <a:endParaRPr kumimoji="0" lang="en-US" sz="2400" b="0" i="0" u="none" strike="noStrike" kern="0" cap="none" spc="0" normalizeH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2" name="Google Shape;466;p4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ctr" anchorCtr="0">
            <a:noAutofit/>
          </a:bodyPr>
          <a:lstStyle/>
          <a:p>
            <a:pPr lvl="0">
              <a:buClr>
                <a:schemeClr val="lt1"/>
              </a:buClr>
              <a:buSzPts val="3600"/>
            </a:pPr>
            <a:r>
              <a:rPr lang="en-US" sz="3600" dirty="0"/>
              <a:t>Recap: Design – Reality Gap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96861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6"/>
          <p:cNvSpPr txBox="1"/>
          <p:nvPr/>
        </p:nvSpPr>
        <p:spPr>
          <a:xfrm>
            <a:off x="3124200" y="5461000"/>
            <a:ext cx="2133600" cy="19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Verdana"/>
                <a:buNone/>
              </a:pPr>
              <a:t>12</a:t>
            </a:fld>
            <a:endParaRPr/>
          </a:p>
        </p:txBody>
      </p:sp>
      <p:sp>
        <p:nvSpPr>
          <p:cNvPr id="466" name="Google Shape;466;p4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ctr" anchorCtr="0">
            <a:noAutofit/>
          </a:bodyPr>
          <a:lstStyle/>
          <a:p>
            <a:pPr lvl="0">
              <a:buClr>
                <a:schemeClr val="lt1"/>
              </a:buClr>
              <a:buSzPts val="3600"/>
            </a:pPr>
            <a:r>
              <a:rPr lang="en-US" sz="3600" dirty="0"/>
              <a:t>Recap: Design – Reality Gap…</a:t>
            </a:r>
            <a:endParaRPr dirty="0"/>
          </a:p>
        </p:txBody>
      </p:sp>
      <p:sp>
        <p:nvSpPr>
          <p:cNvPr id="7" name="Google Shape;208;p17"/>
          <p:cNvSpPr txBox="1">
            <a:spLocks/>
          </p:cNvSpPr>
          <p:nvPr/>
        </p:nvSpPr>
        <p:spPr>
          <a:xfrm>
            <a:off x="-4417" y="1078632"/>
            <a:ext cx="3293717" cy="457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342900" lvl="1" indent="-342900" algn="just">
              <a:spcBef>
                <a:spcPts val="1200"/>
              </a:spcBef>
              <a:buClr>
                <a:schemeClr val="accent1"/>
              </a:buClr>
              <a:buSzPts val="2400"/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dk1"/>
                </a:solidFill>
              </a:rPr>
              <a:t>The core concept is that a gap may exist between the design of an ICT4D application and the contextual realities into which it is introduced.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21485" t="8333" r="9245" b="7986"/>
          <a:stretch/>
        </p:blipFill>
        <p:spPr>
          <a:xfrm>
            <a:off x="3429001" y="1126156"/>
            <a:ext cx="5715000" cy="458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085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6"/>
          <p:cNvSpPr txBox="1"/>
          <p:nvPr/>
        </p:nvSpPr>
        <p:spPr>
          <a:xfrm>
            <a:off x="3124200" y="5461000"/>
            <a:ext cx="2133600" cy="19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Verdana"/>
                <a:buNone/>
              </a:pPr>
              <a:t>13</a:t>
            </a:fld>
            <a:endParaRPr/>
          </a:p>
        </p:txBody>
      </p:sp>
      <p:sp>
        <p:nvSpPr>
          <p:cNvPr id="466" name="Google Shape;466;p4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ctr" anchorCtr="0">
            <a:noAutofit/>
          </a:bodyPr>
          <a:lstStyle/>
          <a:p>
            <a:pPr lvl="0">
              <a:buClr>
                <a:schemeClr val="lt1"/>
              </a:buClr>
              <a:buSzPts val="3600"/>
            </a:pPr>
            <a:r>
              <a:rPr lang="en-US" sz="3600" dirty="0"/>
              <a:t>Recap: Design – Reality Gap…</a:t>
            </a:r>
            <a:endParaRPr dirty="0"/>
          </a:p>
        </p:txBody>
      </p:sp>
      <p:sp>
        <p:nvSpPr>
          <p:cNvPr id="7" name="Google Shape;208;p17"/>
          <p:cNvSpPr txBox="1">
            <a:spLocks/>
          </p:cNvSpPr>
          <p:nvPr/>
        </p:nvSpPr>
        <p:spPr>
          <a:xfrm>
            <a:off x="0" y="1093279"/>
            <a:ext cx="8907117" cy="457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342900" lvl="1" indent="-342900" algn="just">
              <a:spcBef>
                <a:spcPts val="1200"/>
              </a:spcBef>
              <a:buClr>
                <a:schemeClr val="accent1"/>
              </a:buClr>
              <a:buSzPts val="2400"/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dk1"/>
                </a:solidFill>
              </a:rPr>
              <a:t>The larger that gap, the greater the risk that the ICT4D application will fail. </a:t>
            </a:r>
          </a:p>
          <a:p>
            <a:pPr marL="342900" lvl="1" indent="-342900" algn="just">
              <a:spcBef>
                <a:spcPts val="1200"/>
              </a:spcBef>
              <a:buClr>
                <a:schemeClr val="accent1"/>
              </a:buClr>
              <a:buSzPts val="2400"/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dk1"/>
                </a:solidFill>
              </a:rPr>
              <a:t>There are various ways in which the gap between design and reality could be understood but it is most typically assessed on </a:t>
            </a:r>
            <a:r>
              <a:rPr lang="en-US" sz="2400" u="sng" dirty="0">
                <a:solidFill>
                  <a:schemeClr val="dk1"/>
                </a:solidFill>
              </a:rPr>
              <a:t>seven</a:t>
            </a:r>
            <a:r>
              <a:rPr lang="en-US" sz="2400" dirty="0">
                <a:solidFill>
                  <a:schemeClr val="dk1"/>
                </a:solidFill>
              </a:rPr>
              <a:t> “ITPOSMO” dimensions.</a:t>
            </a:r>
            <a:endParaRPr kumimoji="0" lang="en-US" sz="2400" b="0" u="sng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406400" y="3467100"/>
            <a:ext cx="2260600" cy="596900"/>
          </a:xfrm>
          <a:prstGeom prst="round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1. </a:t>
            </a:r>
            <a:r>
              <a:rPr lang="en-US" sz="2400" b="1" dirty="0">
                <a:solidFill>
                  <a:srgbClr val="FF0000"/>
                </a:solidFill>
              </a:rPr>
              <a:t>I</a:t>
            </a:r>
            <a:r>
              <a:rPr lang="en-US" sz="2400" dirty="0">
                <a:solidFill>
                  <a:schemeClr val="tx1"/>
                </a:solidFill>
              </a:rPr>
              <a:t>nformation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400" y="4253632"/>
            <a:ext cx="2260600" cy="596900"/>
          </a:xfrm>
          <a:prstGeom prst="round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2. </a:t>
            </a:r>
            <a:r>
              <a:rPr lang="en-US" sz="2400" b="1" dirty="0">
                <a:solidFill>
                  <a:srgbClr val="FF0000"/>
                </a:solidFill>
              </a:rPr>
              <a:t>T</a:t>
            </a:r>
            <a:r>
              <a:rPr lang="en-US" sz="2400" dirty="0">
                <a:solidFill>
                  <a:schemeClr val="tx1"/>
                </a:solidFill>
              </a:rPr>
              <a:t>echnology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400" y="5074009"/>
            <a:ext cx="2260600" cy="596900"/>
          </a:xfrm>
          <a:prstGeom prst="round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3. </a:t>
            </a:r>
            <a:r>
              <a:rPr lang="en-US" sz="2400" b="1" dirty="0">
                <a:solidFill>
                  <a:srgbClr val="FF0000"/>
                </a:solidFill>
              </a:rPr>
              <a:t>P</a:t>
            </a:r>
            <a:r>
              <a:rPr lang="en-US" sz="2400" dirty="0">
                <a:solidFill>
                  <a:schemeClr val="tx1"/>
                </a:solidFill>
              </a:rPr>
              <a:t>rocesses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8840" y="3467100"/>
            <a:ext cx="3602659" cy="596900"/>
          </a:xfrm>
          <a:prstGeom prst="round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4. </a:t>
            </a:r>
            <a:r>
              <a:rPr lang="en-US" sz="2400" b="1" dirty="0">
                <a:solidFill>
                  <a:srgbClr val="FF0000"/>
                </a:solidFill>
              </a:rPr>
              <a:t>O</a:t>
            </a:r>
            <a:r>
              <a:rPr lang="en-US" sz="2400" dirty="0">
                <a:solidFill>
                  <a:schemeClr val="tx1"/>
                </a:solidFill>
              </a:rPr>
              <a:t>bjectives and values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8839" y="4240932"/>
            <a:ext cx="3602659" cy="596900"/>
          </a:xfrm>
          <a:prstGeom prst="round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5. </a:t>
            </a:r>
            <a:r>
              <a:rPr lang="en-US" sz="2400" b="1" dirty="0">
                <a:solidFill>
                  <a:srgbClr val="FF0000"/>
                </a:solidFill>
              </a:rPr>
              <a:t>S</a:t>
            </a:r>
            <a:r>
              <a:rPr lang="en-US" sz="2400" dirty="0">
                <a:solidFill>
                  <a:schemeClr val="tx1"/>
                </a:solidFill>
              </a:rPr>
              <a:t>kills and knowledge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8839" y="5074009"/>
            <a:ext cx="3602659" cy="596900"/>
          </a:xfrm>
          <a:prstGeom prst="round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 indent="-355600"/>
            <a:r>
              <a:rPr lang="en-US" sz="2400" dirty="0">
                <a:solidFill>
                  <a:schemeClr val="tx1"/>
                </a:solidFill>
              </a:rPr>
              <a:t>6. </a:t>
            </a:r>
            <a:r>
              <a:rPr lang="en-US" sz="2400" b="1" dirty="0">
                <a:solidFill>
                  <a:srgbClr val="FF0000"/>
                </a:solidFill>
              </a:rPr>
              <a:t>M</a:t>
            </a:r>
            <a:r>
              <a:rPr lang="en-US" sz="2400" dirty="0">
                <a:solidFill>
                  <a:schemeClr val="tx1"/>
                </a:solidFill>
              </a:rPr>
              <a:t>anagement systems and structures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05787" y="3842109"/>
            <a:ext cx="2038213" cy="1257300"/>
          </a:xfrm>
          <a:prstGeom prst="round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7. </a:t>
            </a:r>
            <a:r>
              <a:rPr lang="en-US" sz="2400" b="1" dirty="0">
                <a:solidFill>
                  <a:srgbClr val="FF0000"/>
                </a:solidFill>
              </a:rPr>
              <a:t>O</a:t>
            </a:r>
            <a:r>
              <a:rPr lang="en-US" sz="2400" dirty="0">
                <a:solidFill>
                  <a:schemeClr val="tx1"/>
                </a:solidFill>
              </a:rPr>
              <a:t>ther resources</a:t>
            </a:r>
          </a:p>
        </p:txBody>
      </p:sp>
    </p:spTree>
    <p:extLst>
      <p:ext uri="{BB962C8B-B14F-4D97-AF65-F5344CB8AC3E}">
        <p14:creationId xmlns:p14="http://schemas.microsoft.com/office/powerpoint/2010/main" val="6027586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8"/>
          <p:cNvSpPr txBox="1"/>
          <p:nvPr/>
        </p:nvSpPr>
        <p:spPr>
          <a:xfrm>
            <a:off x="3124200" y="5461000"/>
            <a:ext cx="2133600" cy="19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Verdana"/>
                <a:buNone/>
              </a:pPr>
              <a:t>14</a:t>
            </a:fld>
            <a:endParaRPr/>
          </a:p>
        </p:txBody>
      </p:sp>
      <p:sp>
        <p:nvSpPr>
          <p:cNvPr id="481" name="Google Shape;481;p4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ctr" anchorCtr="0">
            <a:noAutofit/>
          </a:bodyPr>
          <a:lstStyle/>
          <a:p>
            <a:pPr lvl="0">
              <a:buClr>
                <a:schemeClr val="lt1"/>
              </a:buClr>
              <a:buSzPts val="3600"/>
            </a:pPr>
            <a:r>
              <a:rPr lang="en-US" sz="3600" dirty="0"/>
              <a:t>Closing the Gap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82880" y="5101389"/>
            <a:ext cx="146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 err="1"/>
              <a:t>Finck</a:t>
            </a:r>
            <a:r>
              <a:rPr lang="en-GB" sz="1800" dirty="0"/>
              <a:t>, 2005</a:t>
            </a:r>
          </a:p>
        </p:txBody>
      </p:sp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68605" y="1094544"/>
            <a:ext cx="7575395" cy="4024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Google Shape;208;p17"/>
          <p:cNvSpPr txBox="1">
            <a:spLocks/>
          </p:cNvSpPr>
          <p:nvPr/>
        </p:nvSpPr>
        <p:spPr>
          <a:xfrm>
            <a:off x="0" y="1116230"/>
            <a:ext cx="5737528" cy="674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447675" marR="0" lvl="1" indent="-447675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tabLst/>
              <a:defRPr/>
            </a:pPr>
            <a:r>
              <a:rPr lang="en-US" sz="3600" b="1" dirty="0">
                <a:solidFill>
                  <a:schemeClr val="dk1"/>
                </a:solidFill>
              </a:rPr>
              <a:t>How to close the gap?</a:t>
            </a:r>
            <a:endParaRPr kumimoji="0" lang="en-US" sz="3600" b="1" u="sng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78414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A88D0A7-D740-FD73-9B7D-BB7F68E43E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5182405"/>
              </p:ext>
            </p:extLst>
          </p:nvPr>
        </p:nvGraphicFramePr>
        <p:xfrm>
          <a:off x="381000" y="1143001"/>
          <a:ext cx="8318501" cy="457198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115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4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60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464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042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Sem. </a:t>
                      </a:r>
                      <a:r>
                        <a:rPr lang="en-GB" sz="1500" dirty="0" err="1">
                          <a:effectLst/>
                        </a:rPr>
                        <a:t>Wk</a:t>
                      </a:r>
                      <a:endParaRPr lang="en-GB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>
                          <a:effectLst/>
                        </a:rPr>
                        <a:t>Date</a:t>
                      </a:r>
                      <a:endParaRPr lang="en-GB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>
                          <a:effectLst/>
                        </a:rPr>
                        <a:t>Lecture/Seminar</a:t>
                      </a:r>
                      <a:endParaRPr lang="en-GB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Description</a:t>
                      </a:r>
                      <a:endParaRPr lang="en-GB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42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1</a:t>
                      </a:r>
                      <a:endParaRPr lang="en-GB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08</a:t>
                      </a:r>
                      <a:r>
                        <a:rPr lang="en-GB" sz="1500" kern="1200" baseline="300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GB" sz="15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Nov.</a:t>
                      </a:r>
                      <a:endParaRPr lang="en-GB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tc>
                  <a:txBody>
                    <a:bodyPr/>
                    <a:lstStyle/>
                    <a:p>
                      <a:pPr marL="0" marR="0" algn="l" defTabSz="548914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Lecture</a:t>
                      </a:r>
                    </a:p>
                  </a:txBody>
                  <a:tcPr marL="37945" marR="37945" marT="0" marB="0"/>
                </a:tc>
                <a:tc>
                  <a:txBody>
                    <a:bodyPr/>
                    <a:lstStyle/>
                    <a:p>
                      <a:pPr marL="0" marR="0" algn="l" defTabSz="548914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Registration</a:t>
                      </a:r>
                    </a:p>
                  </a:txBody>
                  <a:tcPr marL="37945" marR="3794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42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2</a:t>
                      </a:r>
                      <a:endParaRPr lang="en-GB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>
                          <a:effectLst/>
                        </a:rPr>
                        <a:t>15</a:t>
                      </a:r>
                      <a:r>
                        <a:rPr lang="en-GB" sz="1500" baseline="30000">
                          <a:effectLst/>
                        </a:rPr>
                        <a:t>th</a:t>
                      </a:r>
                      <a:r>
                        <a:rPr lang="en-GB" sz="1500">
                          <a:effectLst/>
                        </a:rPr>
                        <a:t> Nov.</a:t>
                      </a:r>
                      <a:endParaRPr lang="en-GB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Pre -Lecture </a:t>
                      </a:r>
                      <a:endParaRPr lang="en-GB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Course Outline </a:t>
                      </a:r>
                      <a:endParaRPr lang="en-GB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42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>
                          <a:effectLst/>
                        </a:rPr>
                        <a:t>3</a:t>
                      </a:r>
                      <a:endParaRPr lang="en-GB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>
                          <a:effectLst/>
                        </a:rPr>
                        <a:t>22</a:t>
                      </a:r>
                      <a:r>
                        <a:rPr lang="en-GB" sz="1500" baseline="30000">
                          <a:effectLst/>
                        </a:rPr>
                        <a:t>nd</a:t>
                      </a:r>
                      <a:r>
                        <a:rPr lang="en-GB" sz="1500">
                          <a:effectLst/>
                        </a:rPr>
                        <a:t> Nov.</a:t>
                      </a:r>
                      <a:endParaRPr lang="en-GB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Lecture 1</a:t>
                      </a:r>
                      <a:endParaRPr lang="en-GB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Overview of ICT4D</a:t>
                      </a:r>
                      <a:endParaRPr lang="en-GB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42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>
                          <a:effectLst/>
                        </a:rPr>
                        <a:t>4</a:t>
                      </a:r>
                      <a:endParaRPr lang="en-GB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>
                          <a:effectLst/>
                        </a:rPr>
                        <a:t>29</a:t>
                      </a:r>
                      <a:r>
                        <a:rPr lang="en-GB" sz="1500" baseline="30000">
                          <a:effectLst/>
                        </a:rPr>
                        <a:t>th</a:t>
                      </a:r>
                      <a:r>
                        <a:rPr lang="en-GB" sz="1500">
                          <a:effectLst/>
                        </a:rPr>
                        <a:t> Nov.</a:t>
                      </a:r>
                      <a:endParaRPr lang="en-GB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tc>
                  <a:txBody>
                    <a:bodyPr/>
                    <a:lstStyle/>
                    <a:p>
                      <a:pPr marL="0" marR="0" lvl="0" indent="0" algn="l" defTabSz="548914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500" dirty="0">
                          <a:effectLst/>
                        </a:rPr>
                        <a:t>Lecture 2</a:t>
                      </a:r>
                      <a:endParaRPr lang="en-GB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tc>
                  <a:txBody>
                    <a:bodyPr/>
                    <a:lstStyle/>
                    <a:p>
                      <a:pPr marL="0" marR="0" lvl="0" indent="0" algn="l" defTabSz="548914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500" dirty="0">
                          <a:effectLst/>
                        </a:rPr>
                        <a:t>Cases of ICT4D Projects</a:t>
                      </a:r>
                      <a:endParaRPr lang="en-GB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42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5</a:t>
                      </a:r>
                      <a:endParaRPr lang="en-GB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>
                          <a:effectLst/>
                        </a:rPr>
                        <a:t>06</a:t>
                      </a:r>
                      <a:r>
                        <a:rPr lang="en-GB" sz="1500" baseline="30000">
                          <a:effectLst/>
                        </a:rPr>
                        <a:t>th</a:t>
                      </a:r>
                      <a:r>
                        <a:rPr lang="en-GB" sz="1500">
                          <a:effectLst/>
                        </a:rPr>
                        <a:t> Dec.</a:t>
                      </a:r>
                      <a:endParaRPr lang="en-GB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tc>
                  <a:txBody>
                    <a:bodyPr/>
                    <a:lstStyle/>
                    <a:p>
                      <a:pPr marL="0" marR="0" lvl="0" indent="0" algn="l" defTabSz="548914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500" dirty="0">
                          <a:effectLst/>
                        </a:rPr>
                        <a:t>Lecture 3</a:t>
                      </a:r>
                      <a:endParaRPr lang="en-GB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tc>
                  <a:txBody>
                    <a:bodyPr/>
                    <a:lstStyle/>
                    <a:p>
                      <a:pPr marL="0" marR="0" lvl="0" indent="0" algn="l" defTabSz="548914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500" dirty="0">
                          <a:effectLst/>
                        </a:rPr>
                        <a:t>Information Provision and Dev. Impact </a:t>
                      </a:r>
                      <a:endParaRPr lang="en-GB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042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>
                          <a:effectLst/>
                        </a:rPr>
                        <a:t>6</a:t>
                      </a:r>
                      <a:endParaRPr lang="en-GB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>
                          <a:effectLst/>
                        </a:rPr>
                        <a:t>13</a:t>
                      </a:r>
                      <a:r>
                        <a:rPr lang="en-GB" sz="1500" baseline="30000">
                          <a:effectLst/>
                        </a:rPr>
                        <a:t>th </a:t>
                      </a:r>
                      <a:r>
                        <a:rPr lang="en-GB" sz="1500">
                          <a:effectLst/>
                        </a:rPr>
                        <a:t>Dec.</a:t>
                      </a:r>
                      <a:endParaRPr lang="en-GB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tc>
                  <a:txBody>
                    <a:bodyPr/>
                    <a:lstStyle/>
                    <a:p>
                      <a:pPr marL="0" marR="0" lvl="0" indent="0" algn="l" defTabSz="548914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500" dirty="0">
                          <a:effectLst/>
                        </a:rPr>
                        <a:t>Lecture 4 </a:t>
                      </a:r>
                      <a:endParaRPr kumimoji="0" lang="en-GB" sz="1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tc>
                  <a:txBody>
                    <a:bodyPr/>
                    <a:lstStyle/>
                    <a:p>
                      <a:pPr marL="0" marR="0" lvl="0" indent="0" algn="l" defTabSz="548914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500" dirty="0">
                          <a:effectLst/>
                        </a:rPr>
                        <a:t>Design-Reality Gap </a:t>
                      </a:r>
                      <a:endParaRPr lang="en-GB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042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7</a:t>
                      </a:r>
                      <a:endParaRPr lang="en-GB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20</a:t>
                      </a:r>
                      <a:r>
                        <a:rPr lang="en-GB" sz="1500" baseline="30000" dirty="0">
                          <a:effectLst/>
                        </a:rPr>
                        <a:t>th</a:t>
                      </a:r>
                      <a:r>
                        <a:rPr lang="en-GB" sz="1500" dirty="0">
                          <a:effectLst/>
                        </a:rPr>
                        <a:t> Dec.</a:t>
                      </a:r>
                      <a:endParaRPr lang="en-GB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No Lecture</a:t>
                      </a:r>
                      <a:endParaRPr lang="en-GB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Test 1</a:t>
                      </a:r>
                      <a:endParaRPr lang="en-GB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428"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24</a:t>
                      </a:r>
                      <a:r>
                        <a:rPr lang="en-GB" sz="1500" baseline="30000" dirty="0">
                          <a:effectLst/>
                        </a:rPr>
                        <a:t>th</a:t>
                      </a:r>
                      <a:r>
                        <a:rPr lang="en-GB" sz="1500" dirty="0">
                          <a:effectLst/>
                        </a:rPr>
                        <a:t> </a:t>
                      </a:r>
                      <a:r>
                        <a:rPr lang="en-GB" sz="1500">
                          <a:effectLst/>
                        </a:rPr>
                        <a:t>Dec 2023 to 1</a:t>
                      </a:r>
                      <a:r>
                        <a:rPr lang="en-GB" sz="1500" baseline="30000">
                          <a:effectLst/>
                        </a:rPr>
                        <a:t>st</a:t>
                      </a:r>
                      <a:r>
                        <a:rPr lang="en-GB" sz="1500">
                          <a:effectLst/>
                        </a:rPr>
                        <a:t> January 2024 – </a:t>
                      </a:r>
                      <a:r>
                        <a:rPr lang="en-GB" sz="1500" dirty="0">
                          <a:effectLst/>
                        </a:rPr>
                        <a:t>Academic recess.</a:t>
                      </a:r>
                      <a:endParaRPr lang="en-GB" sz="15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548914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534" marR="45534" marT="0" marB="0"/>
                </a:tc>
                <a:tc hMerge="1">
                  <a:txBody>
                    <a:bodyPr/>
                    <a:lstStyle/>
                    <a:p>
                      <a:pPr marL="0" marR="0" lvl="0" indent="0" algn="l" defTabSz="548914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534" marR="45534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0428">
                <a:tc>
                  <a:txBody>
                    <a:bodyPr/>
                    <a:lstStyle/>
                    <a:p>
                      <a:pPr marL="0" marR="0" lvl="0" indent="0" algn="ctr" defTabSz="548914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500" dirty="0">
                          <a:effectLst/>
                        </a:rPr>
                        <a:t>8</a:t>
                      </a:r>
                      <a:endParaRPr lang="en-GB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tc>
                  <a:txBody>
                    <a:bodyPr/>
                    <a:lstStyle/>
                    <a:p>
                      <a:pPr marL="0" marR="0" lvl="0" indent="0" algn="ctr" defTabSz="548914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500">
                          <a:effectLst/>
                        </a:rPr>
                        <a:t>03</a:t>
                      </a:r>
                      <a:r>
                        <a:rPr lang="en-GB" sz="1500" baseline="30000">
                          <a:effectLst/>
                        </a:rPr>
                        <a:t>rd</a:t>
                      </a:r>
                      <a:r>
                        <a:rPr lang="en-GB" sz="1500">
                          <a:effectLst/>
                        </a:rPr>
                        <a:t> Jan.</a:t>
                      </a:r>
                      <a:endParaRPr lang="en-GB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tc>
                  <a:txBody>
                    <a:bodyPr/>
                    <a:lstStyle/>
                    <a:p>
                      <a:pPr marL="0" marR="0" lvl="0" indent="0" algn="l" defTabSz="548914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Seminar 1</a:t>
                      </a:r>
                      <a:endParaRPr kumimoji="0" lang="en-GB" sz="1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tc>
                  <a:txBody>
                    <a:bodyPr/>
                    <a:lstStyle/>
                    <a:p>
                      <a:pPr marL="0" marR="0" lvl="0" indent="0" algn="l" defTabSz="548914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500" dirty="0">
                          <a:effectLst/>
                        </a:rPr>
                        <a:t>Case Study Group Presentations I </a:t>
                      </a:r>
                      <a:endParaRPr lang="en-GB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42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>
                          <a:effectLst/>
                        </a:rPr>
                        <a:t>9</a:t>
                      </a:r>
                      <a:endParaRPr lang="en-GB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>
                          <a:effectLst/>
                        </a:rPr>
                        <a:t>10</a:t>
                      </a:r>
                      <a:r>
                        <a:rPr lang="en-GB" sz="1500" baseline="30000">
                          <a:effectLst/>
                        </a:rPr>
                        <a:t>th</a:t>
                      </a:r>
                      <a:r>
                        <a:rPr lang="en-GB" sz="1500">
                          <a:effectLst/>
                        </a:rPr>
                        <a:t> Jan.</a:t>
                      </a:r>
                      <a:endParaRPr lang="en-GB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tc>
                  <a:txBody>
                    <a:bodyPr/>
                    <a:lstStyle/>
                    <a:p>
                      <a:pPr marL="0" marR="0" lvl="0" indent="0" algn="l" defTabSz="548914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500" dirty="0">
                          <a:effectLst/>
                        </a:rPr>
                        <a:t>Lecture 5</a:t>
                      </a:r>
                      <a:endParaRPr lang="en-GB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tc>
                  <a:txBody>
                    <a:bodyPr/>
                    <a:lstStyle/>
                    <a:p>
                      <a:pPr marL="0" marR="0" lvl="0" indent="0" algn="l" defTabSz="548914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500" dirty="0">
                          <a:effectLst/>
                        </a:rPr>
                        <a:t>Approaches for ICT4D</a:t>
                      </a:r>
                      <a:endParaRPr lang="en-GB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042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>
                          <a:effectLst/>
                        </a:rPr>
                        <a:t>10</a:t>
                      </a:r>
                      <a:endParaRPr lang="en-GB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>
                          <a:effectLst/>
                        </a:rPr>
                        <a:t>17</a:t>
                      </a:r>
                      <a:r>
                        <a:rPr lang="en-GB" sz="1500" baseline="30000">
                          <a:effectLst/>
                        </a:rPr>
                        <a:t>th</a:t>
                      </a:r>
                      <a:r>
                        <a:rPr lang="en-GB" sz="1500">
                          <a:effectLst/>
                        </a:rPr>
                        <a:t> Jan.</a:t>
                      </a:r>
                      <a:endParaRPr lang="en-GB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tc>
                  <a:txBody>
                    <a:bodyPr/>
                    <a:lstStyle/>
                    <a:p>
                      <a:pPr marL="0" marR="0" lvl="0" indent="0" algn="l" defTabSz="548914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500" dirty="0">
                          <a:effectLst/>
                        </a:rPr>
                        <a:t>Lecture 6</a:t>
                      </a:r>
                      <a:endParaRPr lang="en-GB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Success Factors for ICT4D Projects</a:t>
                      </a:r>
                      <a:endParaRPr lang="en-GB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042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>
                          <a:effectLst/>
                        </a:rPr>
                        <a:t>11</a:t>
                      </a:r>
                      <a:endParaRPr lang="en-GB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>
                          <a:effectLst/>
                        </a:rPr>
                        <a:t>24</a:t>
                      </a:r>
                      <a:r>
                        <a:rPr lang="en-GB" sz="1500" baseline="30000">
                          <a:effectLst/>
                        </a:rPr>
                        <a:t>th</a:t>
                      </a:r>
                      <a:r>
                        <a:rPr lang="en-GB" sz="1500">
                          <a:effectLst/>
                        </a:rPr>
                        <a:t> Jan.</a:t>
                      </a:r>
                      <a:endParaRPr lang="en-GB" sz="1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tc>
                  <a:txBody>
                    <a:bodyPr/>
                    <a:lstStyle/>
                    <a:p>
                      <a:pPr marL="0" marR="0" lvl="0" indent="0" algn="l" defTabSz="548914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500" dirty="0">
                          <a:effectLst/>
                        </a:rPr>
                        <a:t>Seminar 2</a:t>
                      </a:r>
                      <a:endParaRPr lang="en-GB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tc>
                  <a:txBody>
                    <a:bodyPr/>
                    <a:lstStyle/>
                    <a:p>
                      <a:pPr marL="0" marR="0" lvl="0" indent="0" algn="l" defTabSz="548914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500" dirty="0">
                          <a:effectLst/>
                        </a:rPr>
                        <a:t>Case Study Group Presentations II</a:t>
                      </a:r>
                      <a:endParaRPr lang="en-GB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042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12</a:t>
                      </a:r>
                      <a:endParaRPr lang="en-GB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31</a:t>
                      </a:r>
                      <a:r>
                        <a:rPr lang="en-GB" sz="1500" baseline="30000" dirty="0">
                          <a:effectLst/>
                        </a:rPr>
                        <a:t>st  </a:t>
                      </a:r>
                      <a:r>
                        <a:rPr lang="en-GB" sz="1500" dirty="0">
                          <a:effectLst/>
                        </a:rPr>
                        <a:t>Jan.</a:t>
                      </a:r>
                      <a:endParaRPr lang="en-GB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No Lecture</a:t>
                      </a:r>
                      <a:endParaRPr lang="en-GB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Test 2</a:t>
                      </a:r>
                      <a:endParaRPr lang="en-GB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0428">
                <a:tc>
                  <a:txBody>
                    <a:bodyPr/>
                    <a:lstStyle/>
                    <a:p>
                      <a:pPr marL="0" marR="0" algn="ctr" defTabSz="548914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37945" marR="37945" marT="0" marB="0"/>
                </a:tc>
                <a:tc>
                  <a:txBody>
                    <a:bodyPr/>
                    <a:lstStyle/>
                    <a:p>
                      <a:pPr marL="0" marR="0" algn="ctr" defTabSz="548914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>
                          <a:effectLst/>
                        </a:rPr>
                        <a:t>07</a:t>
                      </a:r>
                      <a:r>
                        <a:rPr lang="en-GB" sz="1500" baseline="30000">
                          <a:effectLst/>
                        </a:rPr>
                        <a:t>th</a:t>
                      </a:r>
                      <a:r>
                        <a:rPr lang="en-GB" sz="1500">
                          <a:effectLst/>
                        </a:rPr>
                        <a:t> Feb.</a:t>
                      </a:r>
                      <a:endParaRPr lang="en-US" sz="15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7945" marR="37945" marT="0" marB="0"/>
                </a:tc>
                <a:tc>
                  <a:txBody>
                    <a:bodyPr/>
                    <a:lstStyle/>
                    <a:p>
                      <a:pPr marL="0" marR="0" lvl="0" indent="0" algn="l" defTabSz="548914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500" dirty="0">
                          <a:effectLst/>
                        </a:rPr>
                        <a:t>Seminar 3</a:t>
                      </a:r>
                      <a:endParaRPr lang="en-GB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tc>
                  <a:txBody>
                    <a:bodyPr/>
                    <a:lstStyle/>
                    <a:p>
                      <a:pPr marL="0" marR="0" lvl="0" indent="0" algn="l" defTabSz="548914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500" dirty="0">
                          <a:effectLst/>
                        </a:rPr>
                        <a:t>Case Study Group Presentations III</a:t>
                      </a:r>
                      <a:endParaRPr lang="en-GB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042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14</a:t>
                      </a:r>
                      <a:endParaRPr lang="en-GB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>
                          <a:effectLst/>
                        </a:rPr>
                        <a:t>14</a:t>
                      </a:r>
                      <a:r>
                        <a:rPr lang="en-GB" sz="1500" baseline="30000">
                          <a:effectLst/>
                        </a:rPr>
                        <a:t>th</a:t>
                      </a:r>
                      <a:r>
                        <a:rPr lang="en-GB" sz="1500">
                          <a:effectLst/>
                        </a:rPr>
                        <a:t> Feb.</a:t>
                      </a:r>
                      <a:endParaRPr lang="en-GB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Lecture 7</a:t>
                      </a:r>
                      <a:endParaRPr lang="en-GB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MDGs/SDGs and ICT4D</a:t>
                      </a:r>
                      <a:endParaRPr lang="en-GB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042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15</a:t>
                      </a:r>
                      <a:endParaRPr lang="en-GB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>
                          <a:effectLst/>
                        </a:rPr>
                        <a:t>21</a:t>
                      </a:r>
                      <a:r>
                        <a:rPr lang="en-GB" sz="1500" baseline="30000">
                          <a:effectLst/>
                        </a:rPr>
                        <a:t>st</a:t>
                      </a:r>
                      <a:r>
                        <a:rPr lang="en-GB" sz="1500">
                          <a:effectLst/>
                        </a:rPr>
                        <a:t> Feb.</a:t>
                      </a:r>
                      <a:endParaRPr lang="en-GB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Seminar 4</a:t>
                      </a:r>
                      <a:endParaRPr lang="en-GB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Case Study Group Presentations IV</a:t>
                      </a:r>
                      <a:endParaRPr lang="en-GB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1471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 dirty="0">
                          <a:effectLst/>
                        </a:rPr>
                        <a:t>16-17</a:t>
                      </a:r>
                      <a:endParaRPr lang="en-GB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500" baseline="0" dirty="0">
                          <a:effectLst/>
                        </a:rPr>
                        <a:t>26</a:t>
                      </a:r>
                      <a:r>
                        <a:rPr lang="en-GB" sz="1500" baseline="30000" dirty="0">
                          <a:effectLst/>
                        </a:rPr>
                        <a:t>th </a:t>
                      </a:r>
                      <a:r>
                        <a:rPr lang="en-GB" sz="1500" dirty="0">
                          <a:effectLst/>
                        </a:rPr>
                        <a:t>Feb – 08</a:t>
                      </a:r>
                      <a:r>
                        <a:rPr lang="en-GB" sz="1500" baseline="30000" dirty="0">
                          <a:effectLst/>
                        </a:rPr>
                        <a:t>th</a:t>
                      </a:r>
                      <a:r>
                        <a:rPr lang="en-GB" sz="1500" dirty="0">
                          <a:effectLst/>
                        </a:rPr>
                        <a:t> Mar.</a:t>
                      </a:r>
                      <a:endParaRPr lang="en-GB" sz="1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945" marR="37945" marT="0" marB="0"/>
                </a:tc>
                <a:tc hMerge="1">
                  <a:txBody>
                    <a:bodyPr/>
                    <a:lstStyle/>
                    <a:p>
                      <a:pPr marL="0" marR="0" lvl="0" indent="0" algn="l" defTabSz="548914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>
                          <a:effectLst/>
                        </a:rPr>
                        <a:t> </a:t>
                      </a:r>
                      <a:endParaRPr lang="en-GB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534" marR="45534" marT="0" marB="0"/>
                </a:tc>
                <a:tc>
                  <a:txBody>
                    <a:bodyPr/>
                    <a:lstStyle/>
                    <a:p>
                      <a:pPr marL="0" marR="0" lvl="0" indent="0" algn="l" defTabSz="548914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500" dirty="0">
                          <a:effectLst/>
                        </a:rPr>
                        <a:t>University Examinations</a:t>
                      </a:r>
                    </a:p>
                  </a:txBody>
                  <a:tcPr marL="37945" marR="37945" marT="0" marB="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3" name="Google Shape;152;p11">
            <a:extLst>
              <a:ext uri="{FF2B5EF4-FFF2-40B4-BE49-F238E27FC236}">
                <a16:creationId xmlns:a16="http://schemas.microsoft.com/office/drawing/2014/main" id="{52DB47ED-A79D-1BD1-9E81-2CF36AA6F46F}"/>
              </a:ext>
            </a:extLst>
          </p:cNvPr>
          <p:cNvSpPr txBox="1">
            <a:spLocks/>
          </p:cNvSpPr>
          <p:nvPr/>
        </p:nvSpPr>
        <p:spPr>
          <a:xfrm>
            <a:off x="-121920" y="0"/>
            <a:ext cx="914400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lt1"/>
              </a:buClr>
              <a:buSzPts val="4300"/>
            </a:pPr>
            <a:r>
              <a:rPr lang="en-US" sz="4300" b="1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Recap– </a:t>
            </a:r>
            <a:r>
              <a:rPr lang="en-US" sz="2800" b="1" dirty="0">
                <a:solidFill>
                  <a:schemeClr val="bg1"/>
                </a:solidFill>
              </a:rPr>
              <a:t>Progress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C98B906-8C5B-FA4F-2266-37359561AF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l="21744" r="20669"/>
          <a:stretch>
            <a:fillRect/>
          </a:stretch>
        </p:blipFill>
        <p:spPr bwMode="auto">
          <a:xfrm rot="1393990">
            <a:off x="5626869" y="-323794"/>
            <a:ext cx="3228035" cy="15111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 descr="Image result for tick">
            <a:extLst>
              <a:ext uri="{FF2B5EF4-FFF2-40B4-BE49-F238E27FC236}">
                <a16:creationId xmlns:a16="http://schemas.microsoft.com/office/drawing/2014/main" id="{9A536CD9-CE97-9F42-39B2-1BDB04A437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347737" y="1187916"/>
            <a:ext cx="395930" cy="412601"/>
          </a:xfrm>
          <a:prstGeom prst="rect">
            <a:avLst/>
          </a:prstGeom>
          <a:noFill/>
        </p:spPr>
      </p:pic>
      <p:pic>
        <p:nvPicPr>
          <p:cNvPr id="6" name="Picture 2" descr="Image result for tick">
            <a:extLst>
              <a:ext uri="{FF2B5EF4-FFF2-40B4-BE49-F238E27FC236}">
                <a16:creationId xmlns:a16="http://schemas.microsoft.com/office/drawing/2014/main" id="{9905A5D6-6BB7-6502-520C-FB2B791DA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610204" y="1394216"/>
            <a:ext cx="395930" cy="412601"/>
          </a:xfrm>
          <a:prstGeom prst="rect">
            <a:avLst/>
          </a:prstGeom>
          <a:noFill/>
        </p:spPr>
      </p:pic>
      <p:pic>
        <p:nvPicPr>
          <p:cNvPr id="7" name="Picture 2" descr="Image result for tick">
            <a:extLst>
              <a:ext uri="{FF2B5EF4-FFF2-40B4-BE49-F238E27FC236}">
                <a16:creationId xmlns:a16="http://schemas.microsoft.com/office/drawing/2014/main" id="{9F5CE0D0-5599-675B-52DA-A026675DFE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260258" y="1969365"/>
            <a:ext cx="395930" cy="412601"/>
          </a:xfrm>
          <a:prstGeom prst="rect">
            <a:avLst/>
          </a:prstGeom>
          <a:noFill/>
        </p:spPr>
      </p:pic>
      <p:pic>
        <p:nvPicPr>
          <p:cNvPr id="8" name="Picture 2" descr="Image result for tick">
            <a:extLst>
              <a:ext uri="{FF2B5EF4-FFF2-40B4-BE49-F238E27FC236}">
                <a16:creationId xmlns:a16="http://schemas.microsoft.com/office/drawing/2014/main" id="{53D194CF-A03D-7563-B7A9-D0CCD8AB1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472966" y="2196646"/>
            <a:ext cx="395930" cy="412601"/>
          </a:xfrm>
          <a:prstGeom prst="rect">
            <a:avLst/>
          </a:prstGeom>
          <a:noFill/>
        </p:spPr>
      </p:pic>
      <p:pic>
        <p:nvPicPr>
          <p:cNvPr id="9" name="Picture 2" descr="Image result for tick">
            <a:extLst>
              <a:ext uri="{FF2B5EF4-FFF2-40B4-BE49-F238E27FC236}">
                <a16:creationId xmlns:a16="http://schemas.microsoft.com/office/drawing/2014/main" id="{DF6628CA-20AD-B54D-0BA5-06304B6A2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754206" y="2423927"/>
            <a:ext cx="395930" cy="412601"/>
          </a:xfrm>
          <a:prstGeom prst="rect">
            <a:avLst/>
          </a:prstGeom>
          <a:noFill/>
        </p:spPr>
      </p:pic>
      <p:pic>
        <p:nvPicPr>
          <p:cNvPr id="10" name="Picture 2" descr="Image result for tick">
            <a:extLst>
              <a:ext uri="{FF2B5EF4-FFF2-40B4-BE49-F238E27FC236}">
                <a16:creationId xmlns:a16="http://schemas.microsoft.com/office/drawing/2014/main" id="{0AA6FF71-F682-E7C7-2A84-CCF000C30A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952171" y="2732953"/>
            <a:ext cx="395930" cy="412601"/>
          </a:xfrm>
          <a:prstGeom prst="rect">
            <a:avLst/>
          </a:prstGeom>
          <a:noFill/>
        </p:spPr>
      </p:pic>
      <p:pic>
        <p:nvPicPr>
          <p:cNvPr id="11" name="Picture 2" descr="Image result for tick">
            <a:extLst>
              <a:ext uri="{FF2B5EF4-FFF2-40B4-BE49-F238E27FC236}">
                <a16:creationId xmlns:a16="http://schemas.microsoft.com/office/drawing/2014/main" id="{248FA68D-33F8-9BCF-A711-A5CB6F3F82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42921" y="1667025"/>
            <a:ext cx="395930" cy="412601"/>
          </a:xfrm>
          <a:prstGeom prst="rect">
            <a:avLst/>
          </a:prstGeom>
          <a:noFill/>
        </p:spPr>
      </p:pic>
      <p:pic>
        <p:nvPicPr>
          <p:cNvPr id="12" name="Picture 2" descr="Image result for tick">
            <a:extLst>
              <a:ext uri="{FF2B5EF4-FFF2-40B4-BE49-F238E27FC236}">
                <a16:creationId xmlns:a16="http://schemas.microsoft.com/office/drawing/2014/main" id="{ACC8E3CC-3AAB-4091-DDD7-7A67296ADB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241712" y="3222694"/>
            <a:ext cx="395930" cy="4126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"/>
          <p:cNvSpPr txBox="1"/>
          <p:nvPr/>
        </p:nvSpPr>
        <p:spPr>
          <a:xfrm>
            <a:off x="3124200" y="5461000"/>
            <a:ext cx="2133600" cy="19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Verdana"/>
                <a:buNone/>
              </a:pPr>
              <a:t>16</a:t>
            </a:fld>
            <a:endParaRPr/>
          </a:p>
        </p:txBody>
      </p:sp>
      <p:sp>
        <p:nvSpPr>
          <p:cNvPr id="159" name="Google Shape;159;p12"/>
          <p:cNvSpPr txBox="1">
            <a:spLocks noGrp="1"/>
          </p:cNvSpPr>
          <p:nvPr>
            <p:ph type="body" idx="1"/>
          </p:nvPr>
        </p:nvSpPr>
        <p:spPr>
          <a:xfrm>
            <a:off x="0" y="2824162"/>
            <a:ext cx="9144000" cy="1165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355600" marR="0" lvl="0" indent="-355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000"/>
              <a:buFont typeface="Noto Sans Symbols"/>
              <a:buNone/>
            </a:pPr>
            <a:r>
              <a:rPr lang="en-US" sz="5000" b="1" i="0" u="none" strike="noStrike" cap="none" dirty="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Introduction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184"/>
          <p:cNvSpPr/>
          <p:nvPr/>
        </p:nvSpPr>
        <p:spPr>
          <a:xfrm>
            <a:off x="251520" y="1603071"/>
            <a:ext cx="4541861" cy="553998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de-DE" dirty="0"/>
              <a:t>Figure out what </a:t>
            </a:r>
            <a:r>
              <a:rPr lang="de-DE" b="1" i="1" dirty="0"/>
              <a:t>problem</a:t>
            </a:r>
            <a:r>
              <a:rPr lang="de-DE" dirty="0"/>
              <a:t> your users want to solve – not what </a:t>
            </a:r>
            <a:r>
              <a:rPr lang="de-DE" b="1" i="1" dirty="0"/>
              <a:t>solution</a:t>
            </a:r>
            <a:r>
              <a:rPr lang="de-DE" dirty="0"/>
              <a:t> they want!</a:t>
            </a:r>
            <a:endParaRPr dirty="0"/>
          </a:p>
        </p:txBody>
      </p:sp>
      <p:sp>
        <p:nvSpPr>
          <p:cNvPr id="186" name="Shape 186"/>
          <p:cNvSpPr>
            <a:spLocks noGrp="1"/>
          </p:cNvSpPr>
          <p:nvPr>
            <p:ph type="sldNum" sz="quarter" idx="2"/>
          </p:nvPr>
        </p:nvSpPr>
        <p:spPr>
          <a:xfrm>
            <a:off x="7436133" y="349746"/>
            <a:ext cx="84960" cy="1846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>
                <a:solidFill>
                  <a:srgbClr val="000000"/>
                </a:solidFill>
              </a:defRPr>
            </a:pPr>
            <a:fld id="{86CB4B4D-7CA3-9044-876B-883B54F8677D}" type="slidenum">
              <a:rPr>
                <a:solidFill>
                  <a:srgbClr val="777776"/>
                </a:solidFill>
              </a:rPr>
              <a:pPr lvl="0">
                <a:defRPr>
                  <a:solidFill>
                    <a:srgbClr val="000000"/>
                  </a:solidFill>
                </a:defRPr>
              </a:pPr>
              <a:t>17</a:t>
            </a:fld>
            <a:endParaRPr>
              <a:solidFill>
                <a:srgbClr val="777776"/>
              </a:solidFill>
            </a:endParaRPr>
          </a:p>
        </p:txBody>
      </p:sp>
      <p:pic>
        <p:nvPicPr>
          <p:cNvPr id="2" name="Bild 1" descr="Henry_ford_1919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5768" y="1190441"/>
            <a:ext cx="3657600" cy="3893127"/>
          </a:xfrm>
          <a:prstGeom prst="rect">
            <a:avLst/>
          </a:prstGeom>
        </p:spPr>
      </p:pic>
      <p:sp>
        <p:nvSpPr>
          <p:cNvPr id="3" name="Textfeld 2"/>
          <p:cNvSpPr txBox="1"/>
          <p:nvPr/>
        </p:nvSpPr>
        <p:spPr>
          <a:xfrm>
            <a:off x="501363" y="2769525"/>
            <a:ext cx="3560498" cy="145197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3167" tIns="33167" rIns="33167" bIns="33167" numCol="1" spcCol="24875" rtlCol="0" anchor="ctr">
            <a:spAutoFit/>
          </a:bodyPr>
          <a:lstStyle/>
          <a:p>
            <a:pPr rtl="0" latinLnBrk="1" hangingPunct="0"/>
            <a:r>
              <a:rPr lang="de-DE" sz="1800" dirty="0"/>
              <a:t>If I had asked people </a:t>
            </a:r>
          </a:p>
          <a:p>
            <a:pPr rtl="0" latinLnBrk="1" hangingPunct="0"/>
            <a:r>
              <a:rPr lang="de-DE" sz="1800" dirty="0" err="1"/>
              <a:t>what</a:t>
            </a:r>
            <a:r>
              <a:rPr lang="de-DE" sz="1800" dirty="0"/>
              <a:t> </a:t>
            </a:r>
            <a:r>
              <a:rPr lang="de-DE" sz="1800" dirty="0" err="1"/>
              <a:t>they</a:t>
            </a:r>
            <a:r>
              <a:rPr lang="de-DE" sz="1800" dirty="0"/>
              <a:t> </a:t>
            </a:r>
            <a:r>
              <a:rPr lang="de-DE" sz="1800" dirty="0" err="1"/>
              <a:t>wanted</a:t>
            </a:r>
            <a:r>
              <a:rPr lang="de-DE" sz="1800" dirty="0"/>
              <a:t>, </a:t>
            </a:r>
          </a:p>
          <a:p>
            <a:pPr rtl="0" latinLnBrk="1" hangingPunct="0"/>
            <a:r>
              <a:rPr lang="de-DE" sz="1800" dirty="0"/>
              <a:t>they would have said, </a:t>
            </a:r>
          </a:p>
          <a:p>
            <a:pPr rtl="0" latinLnBrk="1" hangingPunct="0"/>
            <a:endParaRPr lang="de-DE" sz="1800" dirty="0"/>
          </a:p>
          <a:p>
            <a:pPr rtl="0" latinLnBrk="1" hangingPunct="0"/>
            <a:r>
              <a:rPr lang="de-DE" sz="1800" b="1" dirty="0"/>
              <a:t>“Faster </a:t>
            </a:r>
            <a:r>
              <a:rPr lang="de-DE" sz="1800" dirty="0"/>
              <a:t>horses! </a:t>
            </a:r>
            <a:r>
              <a:rPr lang="de-DE" sz="1800" b="1" dirty="0"/>
              <a:t>"</a:t>
            </a:r>
          </a:p>
        </p:txBody>
      </p:sp>
      <p:sp>
        <p:nvSpPr>
          <p:cNvPr id="8" name="Shape 184"/>
          <p:cNvSpPr/>
          <p:nvPr/>
        </p:nvSpPr>
        <p:spPr>
          <a:xfrm>
            <a:off x="308911" y="4873724"/>
            <a:ext cx="3906957" cy="276999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de-DE" b="1" dirty="0" err="1"/>
              <a:t>Creating</a:t>
            </a:r>
            <a:r>
              <a:rPr lang="de-DE" b="1" dirty="0"/>
              <a:t> </a:t>
            </a:r>
            <a:r>
              <a:rPr lang="de-DE" b="1" dirty="0" err="1"/>
              <a:t>the</a:t>
            </a:r>
            <a:r>
              <a:rPr lang="de-DE" b="1" dirty="0"/>
              <a:t> </a:t>
            </a:r>
            <a:r>
              <a:rPr lang="de-DE" b="1" dirty="0" err="1"/>
              <a:t>solution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 </a:t>
            </a:r>
            <a:r>
              <a:rPr lang="de-DE" b="1" dirty="0" err="1"/>
              <a:t>your</a:t>
            </a:r>
            <a:r>
              <a:rPr lang="de-DE" b="1" dirty="0"/>
              <a:t> </a:t>
            </a:r>
            <a:r>
              <a:rPr lang="de-DE" b="1" dirty="0" err="1"/>
              <a:t>job</a:t>
            </a:r>
            <a:r>
              <a:rPr lang="de-DE" b="1" dirty="0"/>
              <a:t>!</a:t>
            </a:r>
            <a:endParaRPr b="1" dirty="0"/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5176948" y="5071222"/>
            <a:ext cx="3096344" cy="43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5088" tIns="47544" rIns="95088" bIns="47544"/>
          <a:lstStyle/>
          <a:p>
            <a:pPr marL="0" lvl="1" indent="0">
              <a:spcBef>
                <a:spcPts val="600"/>
              </a:spcBef>
              <a:buClr>
                <a:schemeClr val="accent1"/>
              </a:buClr>
              <a:defRPr/>
            </a:pPr>
            <a:r>
              <a:rPr lang="en-US" sz="1600" kern="0" dirty="0">
                <a:solidFill>
                  <a:srgbClr val="000000"/>
                </a:solidFill>
                <a:latin typeface="Arial" charset="0"/>
              </a:rPr>
              <a:t>Henry Ford  (1863 -1947) </a:t>
            </a:r>
          </a:p>
        </p:txBody>
      </p:sp>
      <p:sp>
        <p:nvSpPr>
          <p:cNvPr id="12" name="Google Shape;165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0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Verdana"/>
              <a:buNone/>
            </a:pPr>
            <a:r>
              <a:rPr lang="en-US" sz="3600" b="1" i="0" u="none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Introduction</a:t>
            </a:r>
            <a:endParaRPr dirty="0"/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/>
        </p:nvSpPr>
        <p:spPr>
          <a:xfrm>
            <a:off x="3124200" y="5461000"/>
            <a:ext cx="2133600" cy="19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Verdana"/>
                <a:buNone/>
              </a:pPr>
              <a:t>18</a:t>
            </a:fld>
            <a:endParaRPr/>
          </a:p>
        </p:txBody>
      </p:sp>
      <p:sp>
        <p:nvSpPr>
          <p:cNvPr id="165" name="Google Shape;165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0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Verdana"/>
              <a:buNone/>
            </a:pPr>
            <a:r>
              <a:rPr lang="en-US" sz="3600" b="1" i="0" u="none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Introduction…</a:t>
            </a:r>
            <a:endParaRPr dirty="0"/>
          </a:p>
        </p:txBody>
      </p:sp>
      <p:sp>
        <p:nvSpPr>
          <p:cNvPr id="108548" name="AutoShape 4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0" name="AutoShape 6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2" name="AutoShape 8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6" name="AutoShape 12" descr="Image result for bricks hous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Google Shape;310;p30"/>
          <p:cNvSpPr txBox="1">
            <a:spLocks/>
          </p:cNvSpPr>
          <p:nvPr/>
        </p:nvSpPr>
        <p:spPr>
          <a:xfrm>
            <a:off x="0" y="1135780"/>
            <a:ext cx="4283242" cy="457921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lvl="2" algn="just">
              <a:spcBef>
                <a:spcPts val="1200"/>
              </a:spcBef>
              <a:spcAft>
                <a:spcPts val="600"/>
              </a:spcAft>
              <a:buClr>
                <a:schemeClr val="dk1"/>
              </a:buClr>
              <a:buSzPts val="2400"/>
              <a:defRPr/>
            </a:pPr>
            <a:r>
              <a:rPr lang="en-GB" sz="2400" dirty="0">
                <a:solidFill>
                  <a:schemeClr val="dk1"/>
                </a:solidFill>
              </a:rPr>
              <a:t>ICTs can enhance </a:t>
            </a:r>
            <a:r>
              <a:rPr lang="en-GB" sz="2400" dirty="0">
                <a:solidFill>
                  <a:srgbClr val="FF0000"/>
                </a:solidFill>
              </a:rPr>
              <a:t>capabilities</a:t>
            </a:r>
            <a:r>
              <a:rPr lang="en-GB" sz="2400" dirty="0">
                <a:solidFill>
                  <a:schemeClr val="dk1"/>
                </a:solidFill>
              </a:rPr>
              <a:t> for human development when applied with </a:t>
            </a:r>
            <a:r>
              <a:rPr lang="en-GB" sz="2400" u="sng" dirty="0">
                <a:solidFill>
                  <a:schemeClr val="dk1"/>
                </a:solidFill>
              </a:rPr>
              <a:t>foresight</a:t>
            </a:r>
            <a:r>
              <a:rPr lang="en-GB" sz="2400" dirty="0">
                <a:solidFill>
                  <a:schemeClr val="dk1"/>
                </a:solidFill>
              </a:rPr>
              <a:t>, clear </a:t>
            </a:r>
            <a:r>
              <a:rPr lang="en-GB" sz="2400" u="sng" dirty="0">
                <a:solidFill>
                  <a:schemeClr val="dk1"/>
                </a:solidFill>
              </a:rPr>
              <a:t>objectives</a:t>
            </a:r>
            <a:r>
              <a:rPr lang="en-GB" sz="2400" dirty="0">
                <a:solidFill>
                  <a:schemeClr val="dk1"/>
                </a:solidFill>
              </a:rPr>
              <a:t>, a firm understanding of the </a:t>
            </a:r>
            <a:r>
              <a:rPr lang="en-GB" sz="2400" u="sng" dirty="0">
                <a:solidFill>
                  <a:schemeClr val="dk1"/>
                </a:solidFill>
              </a:rPr>
              <a:t>obstacles</a:t>
            </a:r>
            <a:r>
              <a:rPr lang="en-GB" sz="2400" dirty="0">
                <a:solidFill>
                  <a:schemeClr val="dk1"/>
                </a:solidFill>
              </a:rPr>
              <a:t> that exist in each </a:t>
            </a:r>
            <a:r>
              <a:rPr lang="en-GB" sz="2400" u="sng" dirty="0">
                <a:solidFill>
                  <a:schemeClr val="dk1"/>
                </a:solidFill>
              </a:rPr>
              <a:t>context</a:t>
            </a:r>
            <a:r>
              <a:rPr lang="en-GB" sz="2400" dirty="0">
                <a:solidFill>
                  <a:schemeClr val="dk1"/>
                </a:solidFill>
              </a:rPr>
              <a:t> and proper policies that establish an institutional framework that promote the use and benefits of ICTs for the poor.</a:t>
            </a:r>
            <a:endParaRPr kumimoji="0" lang="en-US" sz="2400" b="0" i="0" u="none" strike="noStrike" kern="0" cap="none" spc="0" normalizeH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R="0" lvl="2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dk1"/>
              </a:buClr>
              <a:buSzPts val="2400"/>
              <a:tabLst/>
              <a:defRPr/>
            </a:pPr>
            <a:endParaRPr kumimoji="0" lang="en-US" sz="2400" b="0" i="0" u="none" strike="noStrike" kern="0" cap="none" spc="0" normalizeH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346" name="Picture 2" descr="Image result for ict as a tool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98709" y="1424539"/>
            <a:ext cx="4845291" cy="38958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/>
        </p:nvSpPr>
        <p:spPr>
          <a:xfrm>
            <a:off x="3124200" y="5461000"/>
            <a:ext cx="2133600" cy="19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Verdana"/>
                <a:buNone/>
              </a:pPr>
              <a:t>19</a:t>
            </a:fld>
            <a:endParaRPr dirty="0"/>
          </a:p>
        </p:txBody>
      </p:sp>
      <p:sp>
        <p:nvSpPr>
          <p:cNvPr id="108548" name="AutoShape 4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0" name="AutoShape 6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2" name="AutoShape 8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6" name="AutoShape 12" descr="Image result for bricks hous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Google Shape;208;p17"/>
          <p:cNvSpPr txBox="1">
            <a:spLocks/>
          </p:cNvSpPr>
          <p:nvPr/>
        </p:nvSpPr>
        <p:spPr>
          <a:xfrm>
            <a:off x="0" y="1201421"/>
            <a:ext cx="2541069" cy="730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522288" lvl="1" indent="-457200" algn="just">
              <a:spcBef>
                <a:spcPts val="1200"/>
              </a:spcBef>
              <a:buClr>
                <a:schemeClr val="accent1"/>
              </a:buClr>
              <a:buSzPts val="2400"/>
              <a:defRPr/>
            </a:pPr>
            <a:r>
              <a:rPr kumimoji="0" lang="en-US" sz="2400" b="0" i="1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sz="2400" i="1" u="sng" dirty="0">
                <a:solidFill>
                  <a:schemeClr val="dk1"/>
                </a:solidFill>
              </a:rPr>
              <a:t>Foresight</a:t>
            </a:r>
            <a:endParaRPr kumimoji="0" lang="en-US" sz="2400" b="0" i="1" u="sng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208;p17"/>
          <p:cNvSpPr txBox="1">
            <a:spLocks/>
          </p:cNvSpPr>
          <p:nvPr/>
        </p:nvSpPr>
        <p:spPr>
          <a:xfrm>
            <a:off x="2932967" y="1290239"/>
            <a:ext cx="5850673" cy="2742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87313" lvl="1" indent="-22225" algn="just">
              <a:buClr>
                <a:schemeClr val="accent1"/>
              </a:buClr>
              <a:buSzPts val="2400"/>
            </a:pPr>
            <a:r>
              <a:rPr lang="en-GB" sz="1800" dirty="0">
                <a:solidFill>
                  <a:schemeClr val="dk1"/>
                </a:solidFill>
              </a:rPr>
              <a:t>Projecting the future of the ICT4D solution likely to be developed and implemented. For example:</a:t>
            </a:r>
          </a:p>
          <a:p>
            <a:pPr marL="341313" lvl="1" indent="-276225" algn="just">
              <a:spcBef>
                <a:spcPts val="1200"/>
              </a:spcBef>
              <a:buClr>
                <a:schemeClr val="accent1"/>
              </a:buClr>
              <a:buSzPts val="2400"/>
              <a:buFont typeface="Arial" pitchFamily="34" charset="0"/>
              <a:buChar char="•"/>
            </a:pPr>
            <a:r>
              <a:rPr lang="en-GB" sz="1800" dirty="0">
                <a:solidFill>
                  <a:schemeClr val="dk1"/>
                </a:solidFill>
              </a:rPr>
              <a:t>The technologies for the future: Block chain, Big Data, Data Science; </a:t>
            </a:r>
          </a:p>
          <a:p>
            <a:pPr marL="341313" lvl="1" indent="-276225" algn="just">
              <a:spcBef>
                <a:spcPts val="1200"/>
              </a:spcBef>
              <a:buClr>
                <a:schemeClr val="accent1"/>
              </a:buClr>
              <a:buSzPts val="2400"/>
              <a:buFont typeface="Arial" pitchFamily="34" charset="0"/>
              <a:buChar char="•"/>
            </a:pPr>
            <a:r>
              <a:rPr lang="en-GB" sz="1800" dirty="0">
                <a:solidFill>
                  <a:schemeClr val="dk1"/>
                </a:solidFill>
              </a:rPr>
              <a:t>Mobility of the future: Flying trains (400 mph); </a:t>
            </a:r>
          </a:p>
          <a:p>
            <a:pPr marL="341313" lvl="1" indent="-276225" algn="just">
              <a:spcBef>
                <a:spcPts val="1200"/>
              </a:spcBef>
              <a:buClr>
                <a:schemeClr val="accent1"/>
              </a:buClr>
              <a:buSzPts val="2400"/>
              <a:buFont typeface="Arial" pitchFamily="34" charset="0"/>
              <a:buChar char="•"/>
            </a:pPr>
            <a:r>
              <a:rPr lang="en-GB" sz="1800" dirty="0">
                <a:solidFill>
                  <a:schemeClr val="dk1"/>
                </a:solidFill>
              </a:rPr>
              <a:t>Medicine of the future: Telemedicine; </a:t>
            </a:r>
          </a:p>
          <a:p>
            <a:pPr marL="341313" lvl="1" indent="-276225" algn="just">
              <a:spcBef>
                <a:spcPts val="1200"/>
              </a:spcBef>
              <a:buClr>
                <a:schemeClr val="accent1"/>
              </a:buClr>
              <a:buSzPts val="2400"/>
              <a:buFont typeface="Arial" pitchFamily="34" charset="0"/>
              <a:buChar char="•"/>
            </a:pPr>
            <a:r>
              <a:rPr lang="en-GB" sz="1800" dirty="0">
                <a:solidFill>
                  <a:schemeClr val="dk1"/>
                </a:solidFill>
              </a:rPr>
              <a:t>Education of the future: Virtual.</a:t>
            </a:r>
          </a:p>
        </p:txBody>
      </p:sp>
      <p:sp>
        <p:nvSpPr>
          <p:cNvPr id="25" name="Google Shape;165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0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ctr" anchorCtr="0">
            <a:noAutofit/>
          </a:bodyPr>
          <a:lstStyle/>
          <a:p>
            <a:pPr lvl="0">
              <a:buClr>
                <a:schemeClr val="lt1"/>
              </a:buClr>
              <a:buSzPts val="3600"/>
            </a:pPr>
            <a:r>
              <a:rPr lang="en-US" sz="3600" dirty="0"/>
              <a:t>Introduction…</a:t>
            </a:r>
            <a:endParaRPr dirty="0"/>
          </a:p>
        </p:txBody>
      </p:sp>
      <p:pic>
        <p:nvPicPr>
          <p:cNvPr id="97282" name="Picture 2" descr="Image result for flying train"/>
          <p:cNvPicPr>
            <a:picLocks noChangeAspect="1" noChangeArrowheads="1"/>
          </p:cNvPicPr>
          <p:nvPr/>
        </p:nvPicPr>
        <p:blipFill>
          <a:blip r:embed="rId3"/>
          <a:srcRect t="29359" b="29462"/>
          <a:stretch>
            <a:fillRect/>
          </a:stretch>
        </p:blipFill>
        <p:spPr bwMode="auto">
          <a:xfrm>
            <a:off x="1" y="3946358"/>
            <a:ext cx="9144000" cy="176864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/>
        </p:nvSpPr>
        <p:spPr>
          <a:xfrm>
            <a:off x="3124200" y="5461000"/>
            <a:ext cx="2133600" cy="19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Verdana"/>
                <a:buNone/>
              </a:pPr>
              <a:t>20</a:t>
            </a:fld>
            <a:endParaRPr dirty="0"/>
          </a:p>
        </p:txBody>
      </p:sp>
      <p:sp>
        <p:nvSpPr>
          <p:cNvPr id="108548" name="AutoShape 4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0" name="AutoShape 6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2" name="AutoShape 8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6" name="AutoShape 12" descr="Image result for bricks hous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Google Shape;208;p17"/>
          <p:cNvSpPr txBox="1">
            <a:spLocks/>
          </p:cNvSpPr>
          <p:nvPr/>
        </p:nvSpPr>
        <p:spPr>
          <a:xfrm>
            <a:off x="0" y="1201421"/>
            <a:ext cx="2541069" cy="730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522288" lvl="1" indent="-457200" algn="just">
              <a:spcBef>
                <a:spcPts val="1200"/>
              </a:spcBef>
              <a:buClr>
                <a:schemeClr val="accent1"/>
              </a:buClr>
              <a:buSzPts val="2400"/>
              <a:defRPr/>
            </a:pPr>
            <a:r>
              <a:rPr kumimoji="0" lang="en-US" sz="2400" b="0" i="1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n-US" sz="2400" i="1" u="sng" noProof="0" dirty="0">
                <a:solidFill>
                  <a:schemeClr val="dk1"/>
                </a:solidFill>
              </a:rPr>
              <a:t>Objectives</a:t>
            </a:r>
            <a:endParaRPr kumimoji="0" lang="en-US" sz="2400" b="0" i="1" u="sng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208;p17"/>
          <p:cNvSpPr txBox="1">
            <a:spLocks/>
          </p:cNvSpPr>
          <p:nvPr/>
        </p:nvSpPr>
        <p:spPr>
          <a:xfrm>
            <a:off x="2932967" y="1290239"/>
            <a:ext cx="6211033" cy="108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87313" lvl="1" indent="-22225" algn="just">
              <a:buClr>
                <a:schemeClr val="accent1"/>
              </a:buClr>
              <a:buSzPts val="2400"/>
            </a:pPr>
            <a:r>
              <a:rPr lang="en-GB" sz="1800" dirty="0">
                <a:solidFill>
                  <a:schemeClr val="dk1"/>
                </a:solidFill>
              </a:rPr>
              <a:t>Clear [unambiguous] and SMART [Simple, Measurable, Achievable, Realistic, Time-bound] objectives. Education of the future: Virtual.</a:t>
            </a:r>
          </a:p>
        </p:txBody>
      </p:sp>
      <p:sp>
        <p:nvSpPr>
          <p:cNvPr id="25" name="Google Shape;165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0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ctr" anchorCtr="0">
            <a:noAutofit/>
          </a:bodyPr>
          <a:lstStyle/>
          <a:p>
            <a:pPr lvl="0">
              <a:buClr>
                <a:schemeClr val="lt1"/>
              </a:buClr>
              <a:buSzPts val="3600"/>
            </a:pPr>
            <a:r>
              <a:rPr lang="en-US" sz="3600" dirty="0"/>
              <a:t>Introduction…</a:t>
            </a:r>
            <a:endParaRPr dirty="0"/>
          </a:p>
        </p:txBody>
      </p:sp>
      <p:sp>
        <p:nvSpPr>
          <p:cNvPr id="11" name="Google Shape;208;p17"/>
          <p:cNvSpPr txBox="1">
            <a:spLocks/>
          </p:cNvSpPr>
          <p:nvPr/>
        </p:nvSpPr>
        <p:spPr>
          <a:xfrm>
            <a:off x="0" y="2566597"/>
            <a:ext cx="2541069" cy="730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522288" lvl="1" indent="-457200" algn="just">
              <a:spcBef>
                <a:spcPts val="1200"/>
              </a:spcBef>
              <a:buClr>
                <a:schemeClr val="accent1"/>
              </a:buClr>
              <a:buSzPts val="2400"/>
              <a:defRPr/>
            </a:pPr>
            <a:r>
              <a:rPr lang="en-US" sz="2400" i="1" dirty="0">
                <a:solidFill>
                  <a:schemeClr val="dk1"/>
                </a:solidFill>
              </a:rPr>
              <a:t>3. </a:t>
            </a:r>
            <a:r>
              <a:rPr lang="en-US" sz="2400" i="1" u="sng" dirty="0">
                <a:solidFill>
                  <a:schemeClr val="dk1"/>
                </a:solidFill>
              </a:rPr>
              <a:t>Context</a:t>
            </a:r>
            <a:endParaRPr kumimoji="0" lang="en-US" sz="2400" b="0" i="1" u="sng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208;p17"/>
          <p:cNvSpPr txBox="1">
            <a:spLocks/>
          </p:cNvSpPr>
          <p:nvPr/>
        </p:nvSpPr>
        <p:spPr>
          <a:xfrm>
            <a:off x="2960242" y="2636135"/>
            <a:ext cx="6183758" cy="780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87313" lvl="1" indent="-22225" algn="just">
              <a:buClr>
                <a:schemeClr val="accent1"/>
              </a:buClr>
              <a:buSzPts val="2400"/>
            </a:pPr>
            <a:r>
              <a:rPr lang="en-GB" sz="1800" dirty="0">
                <a:solidFill>
                  <a:schemeClr val="dk1"/>
                </a:solidFill>
              </a:rPr>
              <a:t>Addressing the contextual obstacles [social, cultural, economic, environmental]</a:t>
            </a:r>
          </a:p>
        </p:txBody>
      </p:sp>
      <p:sp>
        <p:nvSpPr>
          <p:cNvPr id="14" name="Google Shape;208;p17"/>
          <p:cNvSpPr txBox="1">
            <a:spLocks/>
          </p:cNvSpPr>
          <p:nvPr/>
        </p:nvSpPr>
        <p:spPr>
          <a:xfrm>
            <a:off x="0" y="3845160"/>
            <a:ext cx="2541069" cy="730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522288" lvl="1" indent="-457200" algn="just">
              <a:spcBef>
                <a:spcPts val="1200"/>
              </a:spcBef>
              <a:buClr>
                <a:schemeClr val="accent1"/>
              </a:buClr>
              <a:buSzPts val="2400"/>
              <a:defRPr/>
            </a:pPr>
            <a:r>
              <a:rPr lang="en-US" sz="2400" i="1" dirty="0">
                <a:solidFill>
                  <a:schemeClr val="dk1"/>
                </a:solidFill>
              </a:rPr>
              <a:t>4. </a:t>
            </a:r>
            <a:r>
              <a:rPr lang="en-US" sz="2400" i="1" u="sng" dirty="0">
                <a:solidFill>
                  <a:schemeClr val="dk1"/>
                </a:solidFill>
              </a:rPr>
              <a:t>Content</a:t>
            </a:r>
            <a:endParaRPr kumimoji="0" lang="en-US" sz="2400" b="0" i="1" u="sng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208;p17"/>
          <p:cNvSpPr txBox="1">
            <a:spLocks/>
          </p:cNvSpPr>
          <p:nvPr/>
        </p:nvSpPr>
        <p:spPr>
          <a:xfrm>
            <a:off x="2960242" y="3828067"/>
            <a:ext cx="6183758" cy="119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87313" lvl="1" indent="-22225" algn="just">
              <a:buClr>
                <a:schemeClr val="accent1"/>
              </a:buClr>
              <a:buSzPts val="2400"/>
            </a:pPr>
            <a:r>
              <a:rPr lang="en-GB" sz="1800" dirty="0">
                <a:solidFill>
                  <a:schemeClr val="dk1"/>
                </a:solidFill>
              </a:rPr>
              <a:t>Define institutional framework [legal, regulatory, structural and operational procedures] which determine the use and benefits of an ICT4D solution.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/>
        </p:nvSpPr>
        <p:spPr>
          <a:xfrm>
            <a:off x="3124200" y="5461000"/>
            <a:ext cx="2133600" cy="19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Verdana"/>
                <a:buNone/>
              </a:pPr>
              <a:t>21</a:t>
            </a:fld>
            <a:endParaRPr/>
          </a:p>
        </p:txBody>
      </p:sp>
      <p:sp>
        <p:nvSpPr>
          <p:cNvPr id="165" name="Google Shape;165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0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Verdana"/>
              <a:buNone/>
            </a:pPr>
            <a:r>
              <a:rPr lang="en-US" sz="3600" b="1" i="0" u="none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Introduction</a:t>
            </a:r>
            <a:endParaRPr dirty="0"/>
          </a:p>
        </p:txBody>
      </p:sp>
      <p:sp>
        <p:nvSpPr>
          <p:cNvPr id="108548" name="AutoShape 4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0" name="AutoShape 6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2" name="AutoShape 8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6" name="AutoShape 12" descr="Image result for bricks hous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Google Shape;208;p17"/>
          <p:cNvSpPr txBox="1">
            <a:spLocks noGrp="1"/>
          </p:cNvSpPr>
          <p:nvPr>
            <p:ph type="body" idx="1"/>
          </p:nvPr>
        </p:nvSpPr>
        <p:spPr>
          <a:xfrm>
            <a:off x="0" y="1281513"/>
            <a:ext cx="9144000" cy="258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522288" lvl="1" indent="-457200" algn="just">
              <a:spcBef>
                <a:spcPts val="1200"/>
              </a:spcBef>
              <a:buSzPts val="2400"/>
            </a:pPr>
            <a:r>
              <a:rPr lang="en-GB" sz="2400" i="1" dirty="0"/>
              <a:t>ICT4D design approaches therefore helps to ensure that the </a:t>
            </a:r>
            <a:r>
              <a:rPr lang="en-GB" sz="2400" i="1" dirty="0">
                <a:solidFill>
                  <a:srgbClr val="FF0000"/>
                </a:solidFill>
              </a:rPr>
              <a:t>application requirements </a:t>
            </a:r>
            <a:r>
              <a:rPr lang="en-GB" sz="2400" i="1" dirty="0"/>
              <a:t>for ICT to enhance capabilities of human development are in place.</a:t>
            </a:r>
            <a:endParaRPr lang="en-US" sz="2400" i="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"/>
          <p:cNvSpPr txBox="1"/>
          <p:nvPr/>
        </p:nvSpPr>
        <p:spPr>
          <a:xfrm>
            <a:off x="3124200" y="5461000"/>
            <a:ext cx="2133600" cy="19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Verdana"/>
                <a:buNone/>
              </a:pPr>
              <a:t>22</a:t>
            </a:fld>
            <a:endParaRPr/>
          </a:p>
        </p:txBody>
      </p:sp>
      <p:sp>
        <p:nvSpPr>
          <p:cNvPr id="159" name="Google Shape;159;p12"/>
          <p:cNvSpPr txBox="1">
            <a:spLocks noGrp="1"/>
          </p:cNvSpPr>
          <p:nvPr>
            <p:ph type="body" idx="1"/>
          </p:nvPr>
        </p:nvSpPr>
        <p:spPr>
          <a:xfrm>
            <a:off x="0" y="2824162"/>
            <a:ext cx="9144000" cy="1622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355600" marR="0" lvl="0" indent="-355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000"/>
              <a:buFont typeface="Noto Sans Symbols"/>
              <a:buNone/>
            </a:pPr>
            <a:r>
              <a:rPr lang="en-US" sz="5000" b="1" i="0" u="none" strike="noStrike" cap="none" dirty="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Categories of ICT4D Design Approaches</a:t>
            </a: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/>
        </p:nvSpPr>
        <p:spPr>
          <a:xfrm>
            <a:off x="3124200" y="5461000"/>
            <a:ext cx="2133600" cy="19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Verdana"/>
                <a:buNone/>
              </a:pPr>
              <a:t>23</a:t>
            </a:fld>
            <a:endParaRPr dirty="0"/>
          </a:p>
        </p:txBody>
      </p:sp>
      <p:sp>
        <p:nvSpPr>
          <p:cNvPr id="165" name="Google Shape;165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0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Verdana"/>
              <a:buNone/>
            </a:pPr>
            <a:r>
              <a:rPr lang="en-US" sz="3600" b="1" i="0" u="none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Categories ICT4D Design </a:t>
            </a:r>
            <a:r>
              <a:rPr lang="en-US" sz="3600" b="1" i="0" u="none" dirty="0" err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Appr</a:t>
            </a:r>
            <a:r>
              <a:rPr lang="en-US" sz="3600" b="1" i="0" u="none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 dirty="0"/>
          </a:p>
        </p:txBody>
      </p:sp>
      <p:sp>
        <p:nvSpPr>
          <p:cNvPr id="108548" name="AutoShape 4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0" name="AutoShape 6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2" name="AutoShape 8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6" name="AutoShape 12" descr="Image result for bricks hous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Google Shape;208;p17"/>
          <p:cNvSpPr txBox="1">
            <a:spLocks/>
          </p:cNvSpPr>
          <p:nvPr/>
        </p:nvSpPr>
        <p:spPr>
          <a:xfrm>
            <a:off x="462013" y="1908056"/>
            <a:ext cx="7190071" cy="3530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355600" lvl="1" indent="-290513" algn="just" fontAlgn="base">
              <a:lnSpc>
                <a:spcPct val="200000"/>
              </a:lnSpc>
              <a:buClr>
                <a:schemeClr val="accent1"/>
              </a:buClr>
              <a:buSzPts val="2400"/>
              <a:buFont typeface="Arial" pitchFamily="34" charset="0"/>
              <a:buChar char="•"/>
              <a:defRPr/>
            </a:pPr>
            <a:r>
              <a:rPr lang="en-GB" sz="2400" dirty="0">
                <a:solidFill>
                  <a:schemeClr val="dk1"/>
                </a:solidFill>
              </a:rPr>
              <a:t>Human - </a:t>
            </a:r>
            <a:r>
              <a:rPr lang="en-GB" sz="2400" dirty="0" err="1">
                <a:solidFill>
                  <a:schemeClr val="dk1"/>
                </a:solidFill>
              </a:rPr>
              <a:t>Centered</a:t>
            </a:r>
            <a:r>
              <a:rPr lang="en-GB" sz="2400" dirty="0">
                <a:solidFill>
                  <a:schemeClr val="dk1"/>
                </a:solidFill>
              </a:rPr>
              <a:t> design approaches.</a:t>
            </a:r>
          </a:p>
          <a:p>
            <a:pPr marL="355600" lvl="1" indent="-290513" algn="just" fontAlgn="base">
              <a:lnSpc>
                <a:spcPct val="200000"/>
              </a:lnSpc>
              <a:buClr>
                <a:schemeClr val="accent1"/>
              </a:buClr>
              <a:buSzPts val="2400"/>
              <a:buFont typeface="Arial" pitchFamily="34" charset="0"/>
              <a:buChar char="•"/>
              <a:defRPr/>
            </a:pPr>
            <a:r>
              <a:rPr lang="en-GB" sz="2400" dirty="0">
                <a:solidFill>
                  <a:schemeClr val="dk1"/>
                </a:solidFill>
              </a:rPr>
              <a:t>Supply versus Demand-Driven approaches.</a:t>
            </a:r>
          </a:p>
          <a:p>
            <a:pPr marL="355600" lvl="1" indent="-290513" algn="just" fontAlgn="base">
              <a:lnSpc>
                <a:spcPct val="200000"/>
              </a:lnSpc>
              <a:buClr>
                <a:schemeClr val="accent1"/>
              </a:buClr>
              <a:buSzPts val="2400"/>
              <a:buFont typeface="Arial" pitchFamily="34" charset="0"/>
              <a:buChar char="•"/>
              <a:defRPr/>
            </a:pPr>
            <a:r>
              <a:rPr lang="en-GB" sz="2400" dirty="0">
                <a:solidFill>
                  <a:schemeClr val="dk1"/>
                </a:solidFill>
              </a:rPr>
              <a:t>User-Oriented approaches.</a:t>
            </a:r>
          </a:p>
          <a:p>
            <a:pPr marL="355600" lvl="1" indent="-290513" algn="just" fontAlgn="base">
              <a:lnSpc>
                <a:spcPct val="200000"/>
              </a:lnSpc>
              <a:buClr>
                <a:schemeClr val="accent1"/>
              </a:buClr>
              <a:buSzPts val="2400"/>
              <a:buFont typeface="Arial" pitchFamily="34" charset="0"/>
              <a:buChar char="•"/>
              <a:defRPr/>
            </a:pPr>
            <a:r>
              <a:rPr lang="en-GB" sz="2400" dirty="0">
                <a:solidFill>
                  <a:schemeClr val="dk1"/>
                </a:solidFill>
              </a:rPr>
              <a:t>Hard and Soft approaches.</a:t>
            </a:r>
            <a:endParaRPr lang="en-US" sz="2400" dirty="0">
              <a:solidFill>
                <a:schemeClr val="dk1"/>
              </a:solidFill>
            </a:endParaRPr>
          </a:p>
        </p:txBody>
      </p:sp>
      <p:sp>
        <p:nvSpPr>
          <p:cNvPr id="53250" name="AutoShape 2" descr="Image result for if you fail to plan you plan to fail quo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252" name="AutoShape 4" descr="Image result for if you fail to plan you plan to fail quo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254" name="AutoShape 6" descr="Image result for if you fail to plan you plan to fail quo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Google Shape;208;p17"/>
          <p:cNvSpPr txBox="1">
            <a:spLocks/>
          </p:cNvSpPr>
          <p:nvPr/>
        </p:nvSpPr>
        <p:spPr>
          <a:xfrm>
            <a:off x="-1" y="1094995"/>
            <a:ext cx="8922619" cy="730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522288" marR="0" lvl="1" indent="-45720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tabLst/>
              <a:defRPr/>
            </a:pPr>
            <a: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Categories of ICT4D</a:t>
            </a:r>
            <a:r>
              <a:rPr kumimoji="0" lang="en-US" sz="2400" b="1" i="1" u="none" strike="noStrike" kern="0" cap="none" spc="0" normalizeH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Design Approaches in a Nutshell</a:t>
            </a:r>
            <a:endParaRPr kumimoji="0" lang="en-US" sz="2400" b="1" i="1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/>
        </p:nvSpPr>
        <p:spPr>
          <a:xfrm>
            <a:off x="3124200" y="5461000"/>
            <a:ext cx="2133600" cy="19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Verdana"/>
                <a:buNone/>
              </a:pPr>
              <a:t>24</a:t>
            </a:fld>
            <a:endParaRPr dirty="0"/>
          </a:p>
        </p:txBody>
      </p:sp>
      <p:sp>
        <p:nvSpPr>
          <p:cNvPr id="165" name="Google Shape;165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0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Verdana"/>
              <a:buNone/>
            </a:pPr>
            <a:r>
              <a:rPr lang="en-US" sz="3600" b="1" i="0" u="none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Categories ICT4D Design </a:t>
            </a:r>
            <a:r>
              <a:rPr lang="en-US" sz="3600" b="1" i="0" u="none" dirty="0" err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Appr</a:t>
            </a:r>
            <a:r>
              <a:rPr lang="en-US" sz="3600" b="1" i="0" u="none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 dirty="0"/>
          </a:p>
        </p:txBody>
      </p:sp>
      <p:sp>
        <p:nvSpPr>
          <p:cNvPr id="108548" name="AutoShape 4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0" name="AutoShape 6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2" name="AutoShape 8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6" name="AutoShape 12" descr="Image result for bricks hous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Google Shape;208;p17"/>
          <p:cNvSpPr txBox="1">
            <a:spLocks/>
          </p:cNvSpPr>
          <p:nvPr/>
        </p:nvSpPr>
        <p:spPr>
          <a:xfrm>
            <a:off x="288758" y="1802178"/>
            <a:ext cx="5746282" cy="3607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355600" lvl="1" indent="-290513" algn="just" fontAlgn="base">
              <a:buClr>
                <a:schemeClr val="accent1"/>
              </a:buClr>
              <a:buSzPts val="2400"/>
              <a:buFont typeface="Arial" pitchFamily="34" charset="0"/>
              <a:buChar char="•"/>
              <a:defRPr/>
            </a:pPr>
            <a:r>
              <a:rPr lang="en-GB" sz="2400" dirty="0">
                <a:solidFill>
                  <a:schemeClr val="dk1"/>
                </a:solidFill>
              </a:rPr>
              <a:t>HCA are </a:t>
            </a:r>
            <a:r>
              <a:rPr lang="en-GB" sz="2400" dirty="0">
                <a:solidFill>
                  <a:srgbClr val="FF0000"/>
                </a:solidFill>
              </a:rPr>
              <a:t>philosophical</a:t>
            </a:r>
            <a:r>
              <a:rPr lang="en-GB" sz="2400" dirty="0">
                <a:solidFill>
                  <a:schemeClr val="dk1"/>
                </a:solidFill>
              </a:rPr>
              <a:t> and </a:t>
            </a:r>
            <a:r>
              <a:rPr lang="en-GB" sz="2400" dirty="0">
                <a:solidFill>
                  <a:srgbClr val="FF0000"/>
                </a:solidFill>
              </a:rPr>
              <a:t>methodological</a:t>
            </a:r>
            <a:r>
              <a:rPr lang="en-GB" sz="2400" dirty="0">
                <a:solidFill>
                  <a:schemeClr val="dk1"/>
                </a:solidFill>
              </a:rPr>
              <a:t> approaches to design that focus on </a:t>
            </a:r>
            <a:r>
              <a:rPr lang="en-GB" sz="2400" dirty="0">
                <a:solidFill>
                  <a:srgbClr val="FF0000"/>
                </a:solidFill>
              </a:rPr>
              <a:t>users</a:t>
            </a:r>
            <a:r>
              <a:rPr lang="en-GB" sz="2400" dirty="0">
                <a:solidFill>
                  <a:schemeClr val="dk1"/>
                </a:solidFill>
              </a:rPr>
              <a:t> and their </a:t>
            </a:r>
            <a:r>
              <a:rPr lang="en-GB" sz="2400" dirty="0">
                <a:solidFill>
                  <a:srgbClr val="FF0000"/>
                </a:solidFill>
              </a:rPr>
              <a:t>contexts of use</a:t>
            </a:r>
            <a:r>
              <a:rPr lang="en-GB" sz="2400" dirty="0">
                <a:solidFill>
                  <a:schemeClr val="dk1"/>
                </a:solidFill>
              </a:rPr>
              <a:t> throughout the planning, design, implementation and reflective phases of a design solution</a:t>
            </a:r>
          </a:p>
          <a:p>
            <a:pPr marL="355600" lvl="1" indent="-290513" algn="just" fontAlgn="base">
              <a:buClr>
                <a:schemeClr val="accent1"/>
              </a:buClr>
              <a:buSzPts val="2400"/>
              <a:defRPr/>
            </a:pPr>
            <a:endParaRPr lang="en-GB" sz="2400" dirty="0">
              <a:solidFill>
                <a:schemeClr val="dk1"/>
              </a:solidFill>
            </a:endParaRPr>
          </a:p>
          <a:p>
            <a:pPr marL="355600" lvl="1" indent="-290513" algn="just" fontAlgn="base">
              <a:buClr>
                <a:schemeClr val="accent1"/>
              </a:buClr>
              <a:buSzPts val="2400"/>
              <a:buFont typeface="Arial" pitchFamily="34" charset="0"/>
              <a:buChar char="•"/>
              <a:defRPr/>
            </a:pPr>
            <a:r>
              <a:rPr lang="en-GB" sz="2400" dirty="0">
                <a:solidFill>
                  <a:schemeClr val="dk1"/>
                </a:solidFill>
              </a:rPr>
              <a:t>Consists of three </a:t>
            </a:r>
            <a:r>
              <a:rPr lang="en-GB" sz="2400" b="1" i="1" dirty="0">
                <a:solidFill>
                  <a:schemeClr val="dk1"/>
                </a:solidFill>
              </a:rPr>
              <a:t>lenses</a:t>
            </a:r>
            <a:r>
              <a:rPr lang="en-GB" sz="2400" dirty="0">
                <a:solidFill>
                  <a:schemeClr val="dk1"/>
                </a:solidFill>
              </a:rPr>
              <a:t> that put human interests at the centre.</a:t>
            </a:r>
          </a:p>
        </p:txBody>
      </p:sp>
      <p:sp>
        <p:nvSpPr>
          <p:cNvPr id="53250" name="AutoShape 2" descr="Image result for if you fail to plan you plan to fail quo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252" name="AutoShape 4" descr="Image result for if you fail to plan you plan to fail quo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254" name="AutoShape 6" descr="Image result for if you fail to plan you plan to fail quo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Google Shape;208;p17"/>
          <p:cNvSpPr txBox="1">
            <a:spLocks/>
          </p:cNvSpPr>
          <p:nvPr/>
        </p:nvSpPr>
        <p:spPr>
          <a:xfrm>
            <a:off x="-1" y="1094995"/>
            <a:ext cx="8922619" cy="730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522288" marR="0" lvl="1" indent="-45720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tabLst/>
              <a:defRPr/>
            </a:pPr>
            <a: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1. Human-Centered</a:t>
            </a:r>
            <a:r>
              <a:rPr kumimoji="0" lang="en-US" sz="2400" b="1" i="1" u="none" strike="noStrike" kern="0" cap="none" spc="0" normalizeH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Approaches</a:t>
            </a:r>
            <a:endParaRPr kumimoji="0" lang="en-US" sz="2400" b="1" i="1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Picture 2" descr="Image result for human-centered design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73034" y="1890467"/>
            <a:ext cx="2670966" cy="312429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/>
        </p:nvSpPr>
        <p:spPr>
          <a:xfrm>
            <a:off x="3124200" y="5461000"/>
            <a:ext cx="2133600" cy="19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Verdana"/>
                <a:buNone/>
              </a:pPr>
              <a:t>25</a:t>
            </a:fld>
            <a:endParaRPr dirty="0"/>
          </a:p>
        </p:txBody>
      </p:sp>
      <p:sp>
        <p:nvSpPr>
          <p:cNvPr id="165" name="Google Shape;165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0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Verdana"/>
              <a:buNone/>
            </a:pPr>
            <a:r>
              <a:rPr lang="en-US" sz="3600" b="1" i="0" u="none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Categories ICT4D Design </a:t>
            </a:r>
            <a:r>
              <a:rPr lang="en-US" sz="3600" b="1" i="0" u="none" dirty="0" err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Appr</a:t>
            </a:r>
            <a:r>
              <a:rPr lang="en-US" sz="3600" b="1" i="0" u="none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 dirty="0"/>
          </a:p>
        </p:txBody>
      </p:sp>
      <p:sp>
        <p:nvSpPr>
          <p:cNvPr id="108548" name="AutoShape 4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0" name="AutoShape 6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2" name="AutoShape 8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6" name="AutoShape 12" descr="Image result for bricks hous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Google Shape;208;p17"/>
          <p:cNvSpPr txBox="1">
            <a:spLocks/>
          </p:cNvSpPr>
          <p:nvPr/>
        </p:nvSpPr>
        <p:spPr>
          <a:xfrm>
            <a:off x="298383" y="1667424"/>
            <a:ext cx="6063916" cy="3912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355600" lvl="1" indent="-290513" algn="just" fontAlgn="base">
              <a:buClr>
                <a:schemeClr val="accent1"/>
              </a:buClr>
              <a:buSzPts val="2400"/>
              <a:buFont typeface="Arial" pitchFamily="34" charset="0"/>
              <a:buChar char="•"/>
              <a:defRPr/>
            </a:pPr>
            <a:r>
              <a:rPr lang="en-GB" sz="2400" dirty="0">
                <a:solidFill>
                  <a:schemeClr val="dk1"/>
                </a:solidFill>
              </a:rPr>
              <a:t>HCA suggests that when </a:t>
            </a:r>
            <a:r>
              <a:rPr lang="en-GB" sz="2400" dirty="0">
                <a:solidFill>
                  <a:srgbClr val="FF0000"/>
                </a:solidFill>
              </a:rPr>
              <a:t>resolving </a:t>
            </a:r>
            <a:r>
              <a:rPr lang="en-GB" sz="2400" dirty="0">
                <a:solidFill>
                  <a:schemeClr val="dk1"/>
                </a:solidFill>
              </a:rPr>
              <a:t>problems, design should first seek to generate </a:t>
            </a:r>
            <a:r>
              <a:rPr lang="en-GB" sz="2400" dirty="0">
                <a:solidFill>
                  <a:srgbClr val="FF0000"/>
                </a:solidFill>
              </a:rPr>
              <a:t>solutions</a:t>
            </a:r>
            <a:r>
              <a:rPr lang="en-GB" sz="2400" dirty="0">
                <a:solidFill>
                  <a:schemeClr val="dk1"/>
                </a:solidFill>
              </a:rPr>
              <a:t> that are:</a:t>
            </a:r>
          </a:p>
          <a:p>
            <a:pPr marL="355600" lvl="7" indent="-290513" algn="just" fontAlgn="base">
              <a:buClr>
                <a:schemeClr val="accent1"/>
              </a:buClr>
              <a:buSzPts val="2400"/>
              <a:buFont typeface="Arial" pitchFamily="34" charset="0"/>
              <a:buChar char="•"/>
              <a:defRPr/>
            </a:pPr>
            <a:r>
              <a:rPr lang="en-GB" sz="2000" i="1" u="sng" dirty="0">
                <a:solidFill>
                  <a:schemeClr val="dk1"/>
                </a:solidFill>
              </a:rPr>
              <a:t>Desirable</a:t>
            </a:r>
            <a:r>
              <a:rPr lang="en-GB" sz="2000" i="1" dirty="0">
                <a:solidFill>
                  <a:schemeClr val="dk1"/>
                </a:solidFill>
              </a:rPr>
              <a:t> to people in that they meet their needs; </a:t>
            </a:r>
          </a:p>
          <a:p>
            <a:pPr marL="355600" lvl="7" indent="-290513" algn="just" fontAlgn="base">
              <a:buClr>
                <a:schemeClr val="accent1"/>
              </a:buClr>
              <a:buSzPts val="2400"/>
              <a:buFont typeface="Arial" pitchFamily="34" charset="0"/>
              <a:buChar char="•"/>
              <a:defRPr/>
            </a:pPr>
            <a:r>
              <a:rPr lang="en-GB" sz="2000" i="1" u="sng" dirty="0">
                <a:solidFill>
                  <a:schemeClr val="dk1"/>
                </a:solidFill>
              </a:rPr>
              <a:t>Viable</a:t>
            </a:r>
            <a:r>
              <a:rPr lang="en-GB" sz="2000" i="1" dirty="0">
                <a:solidFill>
                  <a:schemeClr val="dk1"/>
                </a:solidFill>
              </a:rPr>
              <a:t>, in that solutions are financially and environmentally sustainable, and; </a:t>
            </a:r>
          </a:p>
          <a:p>
            <a:pPr marL="355600" lvl="7" indent="-290513" algn="just" fontAlgn="base">
              <a:buClr>
                <a:schemeClr val="accent1"/>
              </a:buClr>
              <a:buSzPts val="2400"/>
              <a:buFont typeface="Arial" pitchFamily="34" charset="0"/>
              <a:buChar char="•"/>
              <a:defRPr/>
            </a:pPr>
            <a:r>
              <a:rPr lang="en-GB" sz="2000" i="1" u="sng" dirty="0">
                <a:solidFill>
                  <a:schemeClr val="dk1"/>
                </a:solidFill>
              </a:rPr>
              <a:t>Feasible</a:t>
            </a:r>
            <a:r>
              <a:rPr lang="en-GB" sz="2000" i="1" dirty="0">
                <a:solidFill>
                  <a:schemeClr val="dk1"/>
                </a:solidFill>
              </a:rPr>
              <a:t> in the sense that the solution can be produced on a technological level, that the technology is appropriate for the people who will use it, and lastly that the solution is socially and culturally appropriate.</a:t>
            </a:r>
          </a:p>
          <a:p>
            <a:pPr marL="355600" lvl="1" indent="-290513" algn="just" fontAlgn="base">
              <a:buClr>
                <a:schemeClr val="accent1"/>
              </a:buClr>
              <a:buSzPts val="2400"/>
              <a:buFont typeface="Arial" pitchFamily="34" charset="0"/>
              <a:buChar char="•"/>
              <a:defRPr/>
            </a:pPr>
            <a:endParaRPr lang="en-GB" sz="2400" dirty="0">
              <a:solidFill>
                <a:schemeClr val="dk1"/>
              </a:solidFill>
            </a:endParaRPr>
          </a:p>
          <a:p>
            <a:pPr marL="355600" lvl="1" indent="-290513" algn="just" fontAlgn="base">
              <a:buClr>
                <a:schemeClr val="accent1"/>
              </a:buClr>
              <a:buSzPts val="2400"/>
              <a:buFont typeface="Arial" pitchFamily="34" charset="0"/>
              <a:buChar char="•"/>
              <a:defRPr/>
            </a:pPr>
            <a:endParaRPr lang="en-US" sz="2400" dirty="0">
              <a:solidFill>
                <a:schemeClr val="dk1"/>
              </a:solidFill>
            </a:endParaRPr>
          </a:p>
        </p:txBody>
      </p:sp>
      <p:sp>
        <p:nvSpPr>
          <p:cNvPr id="53250" name="AutoShape 2" descr="Image result for if you fail to plan you plan to fail quo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252" name="AutoShape 4" descr="Image result for if you fail to plan you plan to fail quo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254" name="AutoShape 6" descr="Image result for if you fail to plan you plan to fail quo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Google Shape;208;p17"/>
          <p:cNvSpPr txBox="1">
            <a:spLocks/>
          </p:cNvSpPr>
          <p:nvPr/>
        </p:nvSpPr>
        <p:spPr>
          <a:xfrm>
            <a:off x="-1" y="1094995"/>
            <a:ext cx="8922619" cy="730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522288" marR="0" lvl="1" indent="-45720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tabLst/>
              <a:defRPr/>
            </a:pPr>
            <a: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1. Human-Centered</a:t>
            </a:r>
            <a:r>
              <a:rPr kumimoji="0" lang="en-US" sz="2400" b="1" i="1" u="none" strike="noStrike" kern="0" cap="none" spc="0" normalizeH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Approaches …</a:t>
            </a:r>
            <a:endParaRPr kumimoji="0" lang="en-US" sz="2400" b="1" i="1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0" name="Picture 2" descr="Image result for human-centered design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73034" y="1890467"/>
            <a:ext cx="2670966" cy="312429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/>
        </p:nvSpPr>
        <p:spPr>
          <a:xfrm>
            <a:off x="3124200" y="5461000"/>
            <a:ext cx="2133600" cy="19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Verdana"/>
                <a:buNone/>
              </a:pPr>
              <a:t>26</a:t>
            </a:fld>
            <a:endParaRPr dirty="0"/>
          </a:p>
        </p:txBody>
      </p:sp>
      <p:sp>
        <p:nvSpPr>
          <p:cNvPr id="165" name="Google Shape;165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0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Verdana"/>
              <a:buNone/>
            </a:pPr>
            <a:r>
              <a:rPr lang="en-US" sz="3600" b="1" i="0" u="none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Categories ICT4D Design </a:t>
            </a:r>
            <a:r>
              <a:rPr lang="en-US" sz="3600" b="1" i="0" u="none" dirty="0" err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Appr</a:t>
            </a:r>
            <a:r>
              <a:rPr lang="en-US" sz="3600" b="1" i="0" u="none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 dirty="0"/>
          </a:p>
        </p:txBody>
      </p:sp>
      <p:sp>
        <p:nvSpPr>
          <p:cNvPr id="108548" name="AutoShape 4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0" name="AutoShape 6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2" name="AutoShape 8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6" name="AutoShape 12" descr="Image result for bricks hous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Google Shape;208;p17"/>
          <p:cNvSpPr txBox="1">
            <a:spLocks/>
          </p:cNvSpPr>
          <p:nvPr/>
        </p:nvSpPr>
        <p:spPr>
          <a:xfrm>
            <a:off x="298382" y="1705924"/>
            <a:ext cx="3513221" cy="3912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355600" lvl="1" indent="-290513" algn="just" fontAlgn="base">
              <a:buClr>
                <a:schemeClr val="accent1"/>
              </a:buClr>
              <a:buSzPts val="2400"/>
              <a:buFont typeface="Arial" pitchFamily="34" charset="0"/>
              <a:buChar char="•"/>
              <a:defRPr/>
            </a:pPr>
            <a:r>
              <a:rPr lang="en-GB" sz="2400" dirty="0">
                <a:solidFill>
                  <a:schemeClr val="dk1"/>
                </a:solidFill>
              </a:rPr>
              <a:t>SDDA suggests that when </a:t>
            </a:r>
            <a:r>
              <a:rPr lang="en-GB" sz="2400" dirty="0">
                <a:solidFill>
                  <a:srgbClr val="FF0000"/>
                </a:solidFill>
              </a:rPr>
              <a:t>resolving</a:t>
            </a:r>
            <a:r>
              <a:rPr lang="en-GB" sz="2400" dirty="0">
                <a:solidFill>
                  <a:schemeClr val="dk1"/>
                </a:solidFill>
              </a:rPr>
              <a:t> development problems, design should </a:t>
            </a:r>
            <a:r>
              <a:rPr lang="en-GB" sz="2400" dirty="0">
                <a:solidFill>
                  <a:srgbClr val="FF0000"/>
                </a:solidFill>
              </a:rPr>
              <a:t>identify</a:t>
            </a:r>
            <a:r>
              <a:rPr lang="en-GB" sz="2400" dirty="0">
                <a:solidFill>
                  <a:schemeClr val="dk1"/>
                </a:solidFill>
              </a:rPr>
              <a:t> challenges from both </a:t>
            </a:r>
            <a:r>
              <a:rPr lang="en-GB" sz="2400" dirty="0">
                <a:solidFill>
                  <a:srgbClr val="FF0000"/>
                </a:solidFill>
              </a:rPr>
              <a:t>supplying</a:t>
            </a:r>
            <a:r>
              <a:rPr lang="en-GB" sz="2400" dirty="0">
                <a:solidFill>
                  <a:schemeClr val="dk1"/>
                </a:solidFill>
              </a:rPr>
              <a:t> and </a:t>
            </a:r>
            <a:r>
              <a:rPr lang="en-GB" sz="2400" dirty="0">
                <a:solidFill>
                  <a:srgbClr val="FF0000"/>
                </a:solidFill>
              </a:rPr>
              <a:t>receiving</a:t>
            </a:r>
            <a:r>
              <a:rPr lang="en-GB" sz="2400" dirty="0">
                <a:solidFill>
                  <a:schemeClr val="dk1"/>
                </a:solidFill>
              </a:rPr>
              <a:t> sides</a:t>
            </a:r>
          </a:p>
          <a:p>
            <a:pPr marL="355600" lvl="1" indent="-290513" algn="just" fontAlgn="base">
              <a:buClr>
                <a:schemeClr val="accent1"/>
              </a:buClr>
              <a:buSzPts val="2400"/>
              <a:buFont typeface="Arial" pitchFamily="34" charset="0"/>
              <a:buChar char="•"/>
              <a:defRPr/>
            </a:pPr>
            <a:r>
              <a:rPr lang="en-GB" sz="2400" dirty="0">
                <a:solidFill>
                  <a:schemeClr val="dk1"/>
                </a:solidFill>
              </a:rPr>
              <a:t>Also </a:t>
            </a:r>
            <a:r>
              <a:rPr lang="en-GB" sz="2400" dirty="0">
                <a:solidFill>
                  <a:srgbClr val="FF0000"/>
                </a:solidFill>
              </a:rPr>
              <a:t>negotiate</a:t>
            </a:r>
            <a:r>
              <a:rPr lang="en-GB" sz="2400" dirty="0">
                <a:solidFill>
                  <a:schemeClr val="dk1"/>
                </a:solidFill>
              </a:rPr>
              <a:t> for the optimum solution.</a:t>
            </a:r>
            <a:endParaRPr lang="en-US" sz="2400" dirty="0">
              <a:solidFill>
                <a:schemeClr val="dk1"/>
              </a:solidFill>
            </a:endParaRPr>
          </a:p>
        </p:txBody>
      </p:sp>
      <p:sp>
        <p:nvSpPr>
          <p:cNvPr id="53250" name="AutoShape 2" descr="Image result for if you fail to plan you plan to fail quo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252" name="AutoShape 4" descr="Image result for if you fail to plan you plan to fail quo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254" name="AutoShape 6" descr="Image result for if you fail to plan you plan to fail quo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Google Shape;208;p17"/>
          <p:cNvSpPr txBox="1">
            <a:spLocks/>
          </p:cNvSpPr>
          <p:nvPr/>
        </p:nvSpPr>
        <p:spPr>
          <a:xfrm>
            <a:off x="-1" y="1094995"/>
            <a:ext cx="8922619" cy="730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522288" lvl="1" indent="-457200" algn="just">
              <a:spcBef>
                <a:spcPts val="1200"/>
              </a:spcBef>
              <a:buClr>
                <a:schemeClr val="accent1"/>
              </a:buClr>
              <a:buSzPts val="2400"/>
              <a:defRPr/>
            </a:pPr>
            <a:r>
              <a:rPr lang="en-US" sz="2400" b="1" i="1" dirty="0">
                <a:solidFill>
                  <a:schemeClr val="dk1"/>
                </a:solidFill>
              </a:rPr>
              <a:t>2. Supply versus Demand-Driven approaches</a:t>
            </a:r>
            <a:endParaRPr kumimoji="0" lang="en-US" sz="2400" b="1" i="1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898" name="Picture 2" descr="https://d3i71xaburhd42.cloudfront.net/5e0476ac8e2bb84f9e75dec72e1f0b714fcb3eba/29-Figure5-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98231" y="2056082"/>
            <a:ext cx="5116433" cy="294905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/>
        </p:nvSpPr>
        <p:spPr>
          <a:xfrm>
            <a:off x="3124200" y="5461000"/>
            <a:ext cx="2133600" cy="19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Verdana"/>
                <a:buNone/>
              </a:pPr>
              <a:t>27</a:t>
            </a:fld>
            <a:endParaRPr dirty="0"/>
          </a:p>
        </p:txBody>
      </p:sp>
      <p:sp>
        <p:nvSpPr>
          <p:cNvPr id="165" name="Google Shape;165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0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Verdana"/>
              <a:buNone/>
            </a:pPr>
            <a:r>
              <a:rPr lang="en-US" sz="3600" b="1" i="0" u="none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Categories ICT4D Design </a:t>
            </a:r>
            <a:r>
              <a:rPr lang="en-US" sz="3600" b="1" i="0" u="none" dirty="0" err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Appr</a:t>
            </a:r>
            <a:r>
              <a:rPr lang="en-US" sz="3600" b="1" i="0" u="none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 dirty="0"/>
          </a:p>
        </p:txBody>
      </p:sp>
      <p:sp>
        <p:nvSpPr>
          <p:cNvPr id="108548" name="AutoShape 4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0" name="AutoShape 6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2" name="AutoShape 8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6" name="AutoShape 12" descr="Image result for bricks hous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Google Shape;208;p17"/>
          <p:cNvSpPr txBox="1">
            <a:spLocks/>
          </p:cNvSpPr>
          <p:nvPr/>
        </p:nvSpPr>
        <p:spPr>
          <a:xfrm>
            <a:off x="298382" y="1809548"/>
            <a:ext cx="4591252" cy="3809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355600" lvl="1" indent="-290513" algn="just" fontAlgn="base">
              <a:buClr>
                <a:schemeClr val="accent1"/>
              </a:buClr>
              <a:buSzPts val="2400"/>
              <a:buFont typeface="Arial" pitchFamily="34" charset="0"/>
              <a:buChar char="•"/>
              <a:defRPr/>
            </a:pPr>
            <a:r>
              <a:rPr lang="en-GB" sz="2400" dirty="0">
                <a:solidFill>
                  <a:schemeClr val="dk1"/>
                </a:solidFill>
              </a:rPr>
              <a:t>User-oriented/</a:t>
            </a:r>
            <a:r>
              <a:rPr lang="en-GB" sz="2400" dirty="0" err="1">
                <a:solidFill>
                  <a:schemeClr val="dk1"/>
                </a:solidFill>
              </a:rPr>
              <a:t>centered</a:t>
            </a:r>
            <a:r>
              <a:rPr lang="en-GB" sz="2400" dirty="0">
                <a:solidFill>
                  <a:schemeClr val="dk1"/>
                </a:solidFill>
              </a:rPr>
              <a:t> design starts with identification of </a:t>
            </a:r>
            <a:r>
              <a:rPr lang="en-GB" sz="2400" dirty="0">
                <a:solidFill>
                  <a:srgbClr val="FF0000"/>
                </a:solidFill>
              </a:rPr>
              <a:t>user needs</a:t>
            </a:r>
          </a:p>
          <a:p>
            <a:pPr marL="355600" lvl="1" indent="-290513" algn="just" fontAlgn="base">
              <a:buClr>
                <a:schemeClr val="accent1"/>
              </a:buClr>
              <a:buSzPts val="2400"/>
              <a:buFont typeface="Arial" pitchFamily="34" charset="0"/>
              <a:buChar char="•"/>
              <a:defRPr/>
            </a:pPr>
            <a:r>
              <a:rPr lang="en-GB" sz="2400" dirty="0">
                <a:solidFill>
                  <a:schemeClr val="dk1"/>
                </a:solidFill>
              </a:rPr>
              <a:t>Then iterative phases of specifying </a:t>
            </a:r>
            <a:r>
              <a:rPr lang="en-GB" sz="2400" dirty="0">
                <a:solidFill>
                  <a:srgbClr val="FF0000"/>
                </a:solidFill>
              </a:rPr>
              <a:t>context</a:t>
            </a:r>
            <a:r>
              <a:rPr lang="en-GB" sz="2400" dirty="0">
                <a:solidFill>
                  <a:schemeClr val="dk1"/>
                </a:solidFill>
              </a:rPr>
              <a:t>, </a:t>
            </a:r>
            <a:r>
              <a:rPr lang="en-GB" sz="2400" dirty="0">
                <a:solidFill>
                  <a:srgbClr val="FF0000"/>
                </a:solidFill>
              </a:rPr>
              <a:t>requirements</a:t>
            </a:r>
            <a:r>
              <a:rPr lang="en-GB" sz="2400" dirty="0">
                <a:solidFill>
                  <a:schemeClr val="dk1"/>
                </a:solidFill>
              </a:rPr>
              <a:t>, design, and evaluate designs </a:t>
            </a:r>
          </a:p>
          <a:p>
            <a:pPr marL="355600" lvl="1" indent="-290513" algn="just" fontAlgn="base">
              <a:buClr>
                <a:schemeClr val="accent1"/>
              </a:buClr>
              <a:buSzPts val="2400"/>
              <a:buFont typeface="Arial" pitchFamily="34" charset="0"/>
              <a:buChar char="•"/>
              <a:defRPr/>
            </a:pPr>
            <a:r>
              <a:rPr lang="en-GB" sz="2400" dirty="0">
                <a:solidFill>
                  <a:schemeClr val="dk1"/>
                </a:solidFill>
              </a:rPr>
              <a:t>It ends if the designs satisfy the user.</a:t>
            </a:r>
            <a:endParaRPr lang="en-US" sz="2400" dirty="0">
              <a:solidFill>
                <a:schemeClr val="dk1"/>
              </a:solidFill>
            </a:endParaRPr>
          </a:p>
        </p:txBody>
      </p:sp>
      <p:sp>
        <p:nvSpPr>
          <p:cNvPr id="53250" name="AutoShape 2" descr="Image result for if you fail to plan you plan to fail quo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252" name="AutoShape 4" descr="Image result for if you fail to plan you plan to fail quo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254" name="AutoShape 6" descr="Image result for if you fail to plan you plan to fail quo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Google Shape;208;p17"/>
          <p:cNvSpPr txBox="1">
            <a:spLocks/>
          </p:cNvSpPr>
          <p:nvPr/>
        </p:nvSpPr>
        <p:spPr>
          <a:xfrm>
            <a:off x="-1" y="1094995"/>
            <a:ext cx="8922619" cy="730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522288" lvl="1" indent="-457200" algn="just">
              <a:spcBef>
                <a:spcPts val="1200"/>
              </a:spcBef>
              <a:buClr>
                <a:schemeClr val="accent1"/>
              </a:buClr>
              <a:buSzPts val="2400"/>
              <a:defRPr/>
            </a:pPr>
            <a:r>
              <a:rPr lang="en-US" sz="2400" b="1" i="1" dirty="0">
                <a:solidFill>
                  <a:schemeClr val="dk1"/>
                </a:solidFill>
              </a:rPr>
              <a:t>3. User-Oriented approaches</a:t>
            </a:r>
            <a:endParaRPr kumimoji="0" lang="en-US" sz="2400" b="1" i="1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994" name="Picture 2" descr="Image result for User-Oriented approache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931" y="1174282"/>
            <a:ext cx="4143070" cy="424474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/>
        </p:nvSpPr>
        <p:spPr>
          <a:xfrm>
            <a:off x="3124200" y="5461000"/>
            <a:ext cx="2133600" cy="19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Verdana"/>
                <a:buNone/>
              </a:pPr>
              <a:t>28</a:t>
            </a:fld>
            <a:endParaRPr dirty="0"/>
          </a:p>
        </p:txBody>
      </p:sp>
      <p:sp>
        <p:nvSpPr>
          <p:cNvPr id="165" name="Google Shape;165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0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Verdana"/>
              <a:buNone/>
            </a:pPr>
            <a:r>
              <a:rPr lang="en-US" sz="3600" b="1" i="0" u="none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Categories ICT4D Design </a:t>
            </a:r>
            <a:r>
              <a:rPr lang="en-US" sz="3600" b="1" i="0" u="none" dirty="0" err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Appr</a:t>
            </a:r>
            <a:r>
              <a:rPr lang="en-US" sz="3600" b="1" i="0" u="none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 dirty="0"/>
          </a:p>
        </p:txBody>
      </p:sp>
      <p:sp>
        <p:nvSpPr>
          <p:cNvPr id="108548" name="AutoShape 4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0" name="AutoShape 6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2" name="AutoShape 8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6" name="AutoShape 12" descr="Image result for bricks hous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Google Shape;208;p17"/>
          <p:cNvSpPr txBox="1">
            <a:spLocks/>
          </p:cNvSpPr>
          <p:nvPr/>
        </p:nvSpPr>
        <p:spPr>
          <a:xfrm>
            <a:off x="298382" y="1809548"/>
            <a:ext cx="8441357" cy="1183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355600" lvl="1" indent="-290513" algn="just" fontAlgn="base">
              <a:buClr>
                <a:schemeClr val="accent1"/>
              </a:buClr>
              <a:buSzPts val="2400"/>
              <a:buFont typeface="Arial" pitchFamily="34" charset="0"/>
              <a:buChar char="•"/>
              <a:defRPr/>
            </a:pPr>
            <a:r>
              <a:rPr lang="en-GB" sz="2400" dirty="0">
                <a:solidFill>
                  <a:schemeClr val="dk1"/>
                </a:solidFill>
              </a:rPr>
              <a:t>These are approaches which either base on functionalities (hard) or interpretation (soft) leading to quantitative (hard) and qualitative (soft) methodologies respectively.</a:t>
            </a:r>
          </a:p>
        </p:txBody>
      </p:sp>
      <p:sp>
        <p:nvSpPr>
          <p:cNvPr id="53250" name="AutoShape 2" descr="Image result for if you fail to plan you plan to fail quo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252" name="AutoShape 4" descr="Image result for if you fail to plan you plan to fail quo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254" name="AutoShape 6" descr="Image result for if you fail to plan you plan to fail quo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Google Shape;208;p17"/>
          <p:cNvSpPr txBox="1">
            <a:spLocks/>
          </p:cNvSpPr>
          <p:nvPr/>
        </p:nvSpPr>
        <p:spPr>
          <a:xfrm>
            <a:off x="-1" y="1094995"/>
            <a:ext cx="8922619" cy="730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522288" lvl="1" indent="-457200" algn="just">
              <a:spcBef>
                <a:spcPts val="1200"/>
              </a:spcBef>
              <a:buClr>
                <a:schemeClr val="accent1"/>
              </a:buClr>
              <a:buSzPts val="2400"/>
              <a:defRPr/>
            </a:pPr>
            <a:r>
              <a:rPr lang="en-US" sz="2400" b="1" i="1" dirty="0">
                <a:solidFill>
                  <a:schemeClr val="dk1"/>
                </a:solidFill>
              </a:rPr>
              <a:t>4. Hard and Soft approaches</a:t>
            </a:r>
            <a:endParaRPr kumimoji="0" lang="en-US" sz="2400" b="1" i="1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041" name="Picture 1"/>
          <p:cNvPicPr>
            <a:picLocks noChangeAspect="1" noChangeArrowheads="1"/>
          </p:cNvPicPr>
          <p:nvPr/>
        </p:nvPicPr>
        <p:blipFill>
          <a:blip r:embed="rId3"/>
          <a:srcRect l="6587" t="41391" r="4326" b="14899"/>
          <a:stretch>
            <a:fillRect/>
          </a:stretch>
        </p:blipFill>
        <p:spPr bwMode="auto">
          <a:xfrm>
            <a:off x="350928" y="3033108"/>
            <a:ext cx="8505482" cy="2347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"/>
          <p:cNvSpPr txBox="1"/>
          <p:nvPr/>
        </p:nvSpPr>
        <p:spPr>
          <a:xfrm>
            <a:off x="3124200" y="5461000"/>
            <a:ext cx="2133600" cy="19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Verdana"/>
                <a:buNone/>
              </a:pPr>
              <a:t>29</a:t>
            </a:fld>
            <a:endParaRPr/>
          </a:p>
        </p:txBody>
      </p:sp>
      <p:sp>
        <p:nvSpPr>
          <p:cNvPr id="159" name="Google Shape;159;p12"/>
          <p:cNvSpPr txBox="1">
            <a:spLocks noGrp="1"/>
          </p:cNvSpPr>
          <p:nvPr>
            <p:ph type="body" idx="1"/>
          </p:nvPr>
        </p:nvSpPr>
        <p:spPr>
          <a:xfrm>
            <a:off x="0" y="2824162"/>
            <a:ext cx="9144000" cy="1622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355600" marR="0" lvl="0" indent="-355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000"/>
              <a:buFont typeface="Noto Sans Symbols"/>
              <a:buNone/>
            </a:pPr>
            <a:r>
              <a:rPr lang="en-US" sz="5000" b="1" i="0" u="none" strike="noStrike" cap="none" dirty="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ICT4D Design Approaches</a:t>
            </a:r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/>
        </p:nvSpPr>
        <p:spPr>
          <a:xfrm>
            <a:off x="3124200" y="5461000"/>
            <a:ext cx="2133600" cy="19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Verdana"/>
                <a:buNone/>
              </a:pPr>
              <a:t>30</a:t>
            </a:fld>
            <a:endParaRPr dirty="0"/>
          </a:p>
        </p:txBody>
      </p:sp>
      <p:sp>
        <p:nvSpPr>
          <p:cNvPr id="165" name="Google Shape;165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0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Verdana"/>
              <a:buNone/>
            </a:pPr>
            <a:r>
              <a:rPr lang="en-US" sz="3600" b="1" i="0" u="none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ICT4D Design Approaches</a:t>
            </a:r>
            <a:endParaRPr dirty="0"/>
          </a:p>
        </p:txBody>
      </p:sp>
      <p:sp>
        <p:nvSpPr>
          <p:cNvPr id="108548" name="AutoShape 4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0" name="AutoShape 6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2" name="AutoShape 8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6" name="AutoShape 12" descr="Image result for bricks hous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Google Shape;208;p17"/>
          <p:cNvSpPr txBox="1">
            <a:spLocks/>
          </p:cNvSpPr>
          <p:nvPr/>
        </p:nvSpPr>
        <p:spPr>
          <a:xfrm>
            <a:off x="596766" y="1888805"/>
            <a:ext cx="5342021" cy="3424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355600" lvl="1" indent="-290513" algn="just" fontAlgn="base">
              <a:lnSpc>
                <a:spcPct val="150000"/>
              </a:lnSpc>
              <a:buClr>
                <a:schemeClr val="accent1"/>
              </a:buClr>
              <a:buSzPts val="2400"/>
              <a:buFont typeface="Arial" pitchFamily="34" charset="0"/>
              <a:buChar char="•"/>
              <a:defRPr/>
            </a:pPr>
            <a:r>
              <a:rPr lang="en-GB" sz="2400" dirty="0">
                <a:solidFill>
                  <a:schemeClr val="dk1"/>
                </a:solidFill>
              </a:rPr>
              <a:t>Sustainable Livelihood Approach</a:t>
            </a:r>
          </a:p>
          <a:p>
            <a:pPr marL="355600" lvl="1" indent="-290513" algn="just" fontAlgn="base">
              <a:lnSpc>
                <a:spcPct val="150000"/>
              </a:lnSpc>
              <a:buClr>
                <a:schemeClr val="accent1"/>
              </a:buClr>
              <a:buSzPts val="2400"/>
              <a:buFont typeface="Arial" pitchFamily="34" charset="0"/>
              <a:buChar char="•"/>
              <a:defRPr/>
            </a:pPr>
            <a:r>
              <a:rPr lang="en-GB" sz="2400" dirty="0">
                <a:solidFill>
                  <a:schemeClr val="dk1"/>
                </a:solidFill>
              </a:rPr>
              <a:t>Vulnerability Approach</a:t>
            </a:r>
          </a:p>
          <a:p>
            <a:pPr marL="355600" lvl="1" indent="-290513" algn="just" fontAlgn="base">
              <a:lnSpc>
                <a:spcPct val="150000"/>
              </a:lnSpc>
              <a:buClr>
                <a:schemeClr val="accent1"/>
              </a:buClr>
              <a:buSzPts val="2400"/>
              <a:buFont typeface="Arial" pitchFamily="34" charset="0"/>
              <a:buChar char="•"/>
              <a:defRPr/>
            </a:pPr>
            <a:r>
              <a:rPr lang="en-GB" sz="2400" dirty="0">
                <a:solidFill>
                  <a:schemeClr val="dk1"/>
                </a:solidFill>
              </a:rPr>
              <a:t>Design Science Approach.</a:t>
            </a:r>
          </a:p>
          <a:p>
            <a:pPr marL="355600" lvl="1" indent="-290513" algn="just" fontAlgn="base">
              <a:lnSpc>
                <a:spcPct val="150000"/>
              </a:lnSpc>
              <a:buClr>
                <a:schemeClr val="accent1"/>
              </a:buClr>
              <a:buSzPts val="2400"/>
              <a:buFont typeface="Arial" pitchFamily="34" charset="0"/>
              <a:buChar char="•"/>
              <a:defRPr/>
            </a:pPr>
            <a:r>
              <a:rPr lang="en-GB" sz="2400" dirty="0">
                <a:solidFill>
                  <a:schemeClr val="dk1"/>
                </a:solidFill>
              </a:rPr>
              <a:t>Capability Approach.</a:t>
            </a:r>
          </a:p>
          <a:p>
            <a:pPr marL="355600" lvl="1" indent="-290513" algn="just" fontAlgn="base">
              <a:lnSpc>
                <a:spcPct val="150000"/>
              </a:lnSpc>
              <a:buClr>
                <a:schemeClr val="accent1"/>
              </a:buClr>
              <a:buSzPts val="2400"/>
              <a:buFont typeface="Arial" pitchFamily="34" charset="0"/>
              <a:buChar char="•"/>
              <a:defRPr/>
            </a:pPr>
            <a:r>
              <a:rPr lang="en-GB" sz="2400" dirty="0">
                <a:solidFill>
                  <a:schemeClr val="dk1"/>
                </a:solidFill>
              </a:rPr>
              <a:t>Systems Approach.</a:t>
            </a:r>
            <a:endParaRPr lang="en-US" sz="2400" dirty="0">
              <a:solidFill>
                <a:schemeClr val="dk1"/>
              </a:solidFill>
            </a:endParaRPr>
          </a:p>
        </p:txBody>
      </p:sp>
      <p:sp>
        <p:nvSpPr>
          <p:cNvPr id="53250" name="AutoShape 2" descr="Image result for if you fail to plan you plan to fail quo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252" name="AutoShape 4" descr="Image result for if you fail to plan you plan to fail quo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254" name="AutoShape 6" descr="Image result for if you fail to plan you plan to fail quo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Google Shape;208;p17"/>
          <p:cNvSpPr txBox="1">
            <a:spLocks/>
          </p:cNvSpPr>
          <p:nvPr/>
        </p:nvSpPr>
        <p:spPr>
          <a:xfrm>
            <a:off x="-1" y="1094995"/>
            <a:ext cx="8922619" cy="730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522288" marR="0" lvl="1" indent="-45720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tabLst/>
              <a:defRPr/>
            </a:pPr>
            <a: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ICT4D</a:t>
            </a:r>
            <a:r>
              <a:rPr kumimoji="0" lang="en-US" sz="2400" b="1" i="1" u="none" strike="noStrike" kern="0" cap="none" spc="0" normalizeH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Design Approaches in a Nutshell</a:t>
            </a:r>
            <a:endParaRPr kumimoji="0" lang="en-US" sz="2400" b="1" i="1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/>
        </p:nvSpPr>
        <p:spPr>
          <a:xfrm>
            <a:off x="3124200" y="5461000"/>
            <a:ext cx="2133600" cy="19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Verdana"/>
                <a:buNone/>
              </a:pPr>
              <a:t>31</a:t>
            </a:fld>
            <a:endParaRPr dirty="0"/>
          </a:p>
        </p:txBody>
      </p:sp>
      <p:sp>
        <p:nvSpPr>
          <p:cNvPr id="165" name="Google Shape;165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0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ctr" anchorCtr="0">
            <a:noAutofit/>
          </a:bodyPr>
          <a:lstStyle/>
          <a:p>
            <a:pPr lvl="0">
              <a:buClr>
                <a:schemeClr val="lt1"/>
              </a:buClr>
              <a:buSzPts val="3600"/>
            </a:pPr>
            <a:r>
              <a:rPr lang="en-US" sz="3600" dirty="0"/>
              <a:t>ICT4D Design Approaches…</a:t>
            </a:r>
            <a:endParaRPr dirty="0"/>
          </a:p>
        </p:txBody>
      </p:sp>
      <p:sp>
        <p:nvSpPr>
          <p:cNvPr id="108548" name="AutoShape 4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0" name="AutoShape 6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2" name="AutoShape 8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6" name="AutoShape 12" descr="Image result for bricks hous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Google Shape;208;p17"/>
          <p:cNvSpPr txBox="1">
            <a:spLocks/>
          </p:cNvSpPr>
          <p:nvPr/>
        </p:nvSpPr>
        <p:spPr>
          <a:xfrm>
            <a:off x="288758" y="1802178"/>
            <a:ext cx="8547234" cy="3607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355600" lvl="1" indent="-290513" algn="just" fontAlgn="base">
              <a:buClr>
                <a:schemeClr val="accent1"/>
              </a:buClr>
              <a:buSzPts val="2400"/>
              <a:buFont typeface="Arial" pitchFamily="34" charset="0"/>
              <a:buChar char="•"/>
              <a:defRPr/>
            </a:pPr>
            <a:r>
              <a:rPr lang="en-GB" sz="2400" dirty="0"/>
              <a:t>SLA/SLF was developed by the UK’s Department for International Development (DFID) in the late 1990s as a </a:t>
            </a:r>
            <a:r>
              <a:rPr lang="en-GB" sz="2400" b="1" u="sng" dirty="0">
                <a:solidFill>
                  <a:srgbClr val="FF0000"/>
                </a:solidFill>
              </a:rPr>
              <a:t>diagnostic tool</a:t>
            </a:r>
            <a:r>
              <a:rPr lang="en-GB" sz="2400" b="1" dirty="0">
                <a:solidFill>
                  <a:srgbClr val="FF0000"/>
                </a:solidFill>
              </a:rPr>
              <a:t> </a:t>
            </a:r>
            <a:r>
              <a:rPr lang="en-GB" sz="2400" dirty="0"/>
              <a:t>to analyse projects oriented towards </a:t>
            </a:r>
            <a:r>
              <a:rPr lang="en-GB" sz="2400" dirty="0">
                <a:solidFill>
                  <a:srgbClr val="FF0000"/>
                </a:solidFill>
              </a:rPr>
              <a:t>poverty alleviation</a:t>
            </a:r>
            <a:r>
              <a:rPr lang="en-GB" sz="2400" dirty="0"/>
              <a:t>.</a:t>
            </a:r>
          </a:p>
          <a:p>
            <a:pPr marL="355600" lvl="1" indent="-290513" algn="just" fontAlgn="base">
              <a:spcBef>
                <a:spcPts val="1200"/>
              </a:spcBef>
              <a:buClr>
                <a:schemeClr val="accent1"/>
              </a:buClr>
              <a:buSzPts val="2400"/>
              <a:buFont typeface="Arial" pitchFamily="34" charset="0"/>
              <a:buChar char="•"/>
              <a:defRPr/>
            </a:pPr>
            <a:r>
              <a:rPr lang="en-GB" sz="2400" dirty="0"/>
              <a:t>It is based on the </a:t>
            </a:r>
            <a:r>
              <a:rPr lang="en-GB" sz="2400" dirty="0">
                <a:solidFill>
                  <a:srgbClr val="FF0000"/>
                </a:solidFill>
              </a:rPr>
              <a:t>recognition</a:t>
            </a:r>
            <a:r>
              <a:rPr lang="en-GB" sz="2400" dirty="0"/>
              <a:t> that </a:t>
            </a:r>
            <a:r>
              <a:rPr lang="en-GB" sz="2400" dirty="0">
                <a:solidFill>
                  <a:srgbClr val="FF0000"/>
                </a:solidFill>
              </a:rPr>
              <a:t>livelihood strategies </a:t>
            </a:r>
            <a:r>
              <a:rPr lang="en-GB" sz="2400" dirty="0"/>
              <a:t>include multiple components in the form of access (or lack thereof) to </a:t>
            </a:r>
            <a:r>
              <a:rPr lang="en-GB" sz="2400" u="sng" dirty="0"/>
              <a:t>financial</a:t>
            </a:r>
            <a:r>
              <a:rPr lang="en-GB" sz="2400" dirty="0"/>
              <a:t>, </a:t>
            </a:r>
            <a:r>
              <a:rPr lang="en-GB" sz="2400" u="sng" dirty="0"/>
              <a:t>human</a:t>
            </a:r>
            <a:r>
              <a:rPr lang="en-GB" sz="2400" dirty="0"/>
              <a:t>, </a:t>
            </a:r>
            <a:r>
              <a:rPr lang="en-GB" sz="2400" u="sng" dirty="0"/>
              <a:t>natural</a:t>
            </a:r>
            <a:r>
              <a:rPr lang="en-GB" sz="2400" dirty="0"/>
              <a:t>, </a:t>
            </a:r>
            <a:r>
              <a:rPr lang="en-GB" sz="2400" u="sng" dirty="0"/>
              <a:t>social</a:t>
            </a:r>
            <a:r>
              <a:rPr lang="en-GB" sz="2400" dirty="0"/>
              <a:t> and </a:t>
            </a:r>
            <a:r>
              <a:rPr lang="en-GB" sz="2400" u="sng" dirty="0"/>
              <a:t>physical</a:t>
            </a:r>
            <a:r>
              <a:rPr lang="en-GB" sz="2400" dirty="0"/>
              <a:t> assets.</a:t>
            </a:r>
            <a:endParaRPr lang="en-GB" sz="2400" dirty="0">
              <a:solidFill>
                <a:schemeClr val="dk1"/>
              </a:solidFill>
            </a:endParaRPr>
          </a:p>
        </p:txBody>
      </p:sp>
      <p:sp>
        <p:nvSpPr>
          <p:cNvPr id="53250" name="AutoShape 2" descr="Image result for if you fail to plan you plan to fail quo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252" name="AutoShape 4" descr="Image result for if you fail to plan you plan to fail quo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254" name="AutoShape 6" descr="Image result for if you fail to plan you plan to fail quo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Google Shape;208;p17"/>
          <p:cNvSpPr txBox="1">
            <a:spLocks/>
          </p:cNvSpPr>
          <p:nvPr/>
        </p:nvSpPr>
        <p:spPr>
          <a:xfrm>
            <a:off x="-1" y="1094995"/>
            <a:ext cx="8922619" cy="730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522288" marR="0" lvl="1" indent="-45720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tabLst/>
              <a:defRPr/>
            </a:pPr>
            <a: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1. Sustainable Livelihood Approach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/>
        </p:nvSpPr>
        <p:spPr>
          <a:xfrm>
            <a:off x="3124200" y="5461000"/>
            <a:ext cx="2133600" cy="19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Verdana"/>
                <a:buNone/>
              </a:pPr>
              <a:t>32</a:t>
            </a:fld>
            <a:endParaRPr dirty="0"/>
          </a:p>
        </p:txBody>
      </p:sp>
      <p:sp>
        <p:nvSpPr>
          <p:cNvPr id="108548" name="AutoShape 4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0" name="AutoShape 6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2" name="AutoShape 8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6" name="AutoShape 12" descr="Image result for bricks hous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Google Shape;208;p17"/>
          <p:cNvSpPr txBox="1">
            <a:spLocks/>
          </p:cNvSpPr>
          <p:nvPr/>
        </p:nvSpPr>
        <p:spPr>
          <a:xfrm>
            <a:off x="-1" y="1124732"/>
            <a:ext cx="7126357" cy="1062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522288" lvl="1" indent="-457200" algn="just">
              <a:spcBef>
                <a:spcPts val="1200"/>
              </a:spcBef>
              <a:buClr>
                <a:schemeClr val="accent1"/>
              </a:buClr>
              <a:buSzPts val="2400"/>
              <a:defRPr/>
            </a:pPr>
            <a:r>
              <a:rPr lang="en-US" sz="2400" b="1" i="1" dirty="0">
                <a:solidFill>
                  <a:schemeClr val="dk1"/>
                </a:solidFill>
              </a:rPr>
              <a:t>1. Sustainable Livelihood Approach…..</a:t>
            </a:r>
          </a:p>
        </p:txBody>
      </p:sp>
      <p:sp>
        <p:nvSpPr>
          <p:cNvPr id="15" name="Google Shape;165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0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ctr" anchorCtr="0">
            <a:noAutofit/>
          </a:bodyPr>
          <a:lstStyle/>
          <a:p>
            <a:pPr lvl="0">
              <a:buClr>
                <a:schemeClr val="lt1"/>
              </a:buClr>
              <a:buSzPts val="3600"/>
            </a:pPr>
            <a:r>
              <a:rPr lang="en-US" sz="3600" dirty="0"/>
              <a:t>ICT4D Design Approaches…</a:t>
            </a:r>
            <a:endParaRPr dirty="0"/>
          </a:p>
        </p:txBody>
      </p:sp>
      <p:pic>
        <p:nvPicPr>
          <p:cNvPr id="45058" name="Picture 2" descr="Related imag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894580"/>
            <a:ext cx="9160565" cy="353197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/>
        </p:nvSpPr>
        <p:spPr>
          <a:xfrm>
            <a:off x="3124200" y="5461000"/>
            <a:ext cx="2133600" cy="19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Verdana"/>
                <a:buNone/>
              </a:pPr>
              <a:t>33</a:t>
            </a:fld>
            <a:endParaRPr dirty="0"/>
          </a:p>
        </p:txBody>
      </p:sp>
      <p:sp>
        <p:nvSpPr>
          <p:cNvPr id="165" name="Google Shape;165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0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ctr" anchorCtr="0">
            <a:noAutofit/>
          </a:bodyPr>
          <a:lstStyle/>
          <a:p>
            <a:pPr lvl="0">
              <a:buClr>
                <a:schemeClr val="lt1"/>
              </a:buClr>
              <a:buSzPts val="3600"/>
            </a:pPr>
            <a:r>
              <a:rPr lang="en-US" sz="3600" dirty="0"/>
              <a:t>ICT4D Design Approaches…</a:t>
            </a:r>
            <a:endParaRPr dirty="0"/>
          </a:p>
        </p:txBody>
      </p:sp>
      <p:sp>
        <p:nvSpPr>
          <p:cNvPr id="108548" name="AutoShape 4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0" name="AutoShape 6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2" name="AutoShape 8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6" name="AutoShape 12" descr="Image result for bricks hous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250" name="AutoShape 2" descr="Image result for if you fail to plan you plan to fail quo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252" name="AutoShape 4" descr="Image result for if you fail to plan you plan to fail quo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254" name="AutoShape 6" descr="Image result for if you fail to plan you plan to fail quo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Google Shape;208;p17"/>
          <p:cNvSpPr txBox="1">
            <a:spLocks/>
          </p:cNvSpPr>
          <p:nvPr/>
        </p:nvSpPr>
        <p:spPr>
          <a:xfrm>
            <a:off x="-1" y="1094995"/>
            <a:ext cx="8922619" cy="730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522288" lvl="1" indent="-457200" algn="just">
              <a:spcBef>
                <a:spcPts val="1200"/>
              </a:spcBef>
              <a:buClr>
                <a:schemeClr val="accent1"/>
              </a:buClr>
              <a:buSzPts val="2400"/>
              <a:defRPr/>
            </a:pPr>
            <a: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 i="1" dirty="0">
                <a:solidFill>
                  <a:schemeClr val="dk1"/>
                </a:solidFill>
              </a:rPr>
              <a:t>. Vulnerability Approach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268" y="3388092"/>
            <a:ext cx="2502568" cy="5390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VULNERABILITY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13234" y="2404710"/>
            <a:ext cx="2215414" cy="5390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Susceptibility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85962" y="4262387"/>
            <a:ext cx="2281187" cy="5390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Coping capacity</a:t>
            </a:r>
          </a:p>
        </p:txBody>
      </p:sp>
      <p:cxnSp>
        <p:nvCxnSpPr>
          <p:cNvPr id="18" name="Straight Arrow Connector 17"/>
          <p:cNvCxnSpPr>
            <a:stCxn id="13" idx="3"/>
            <a:endCxn id="14" idx="2"/>
          </p:cNvCxnSpPr>
          <p:nvPr/>
        </p:nvCxnSpPr>
        <p:spPr>
          <a:xfrm flipV="1">
            <a:off x="3137836" y="2943725"/>
            <a:ext cx="1183105" cy="713875"/>
          </a:xfrm>
          <a:prstGeom prst="straightConnector1">
            <a:avLst/>
          </a:prstGeom>
          <a:ln w="381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3" idx="3"/>
            <a:endCxn id="15" idx="0"/>
          </p:cNvCxnSpPr>
          <p:nvPr/>
        </p:nvCxnSpPr>
        <p:spPr>
          <a:xfrm>
            <a:off x="3137836" y="3657600"/>
            <a:ext cx="1188720" cy="604787"/>
          </a:xfrm>
          <a:prstGeom prst="straightConnector1">
            <a:avLst/>
          </a:prstGeom>
          <a:ln w="381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Google Shape;208;p17"/>
          <p:cNvSpPr txBox="1">
            <a:spLocks/>
          </p:cNvSpPr>
          <p:nvPr/>
        </p:nvSpPr>
        <p:spPr>
          <a:xfrm>
            <a:off x="3243714" y="1773303"/>
            <a:ext cx="2406316" cy="507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355600" lvl="1" indent="-290513" algn="ctr" fontAlgn="base">
              <a:buClr>
                <a:schemeClr val="accent1"/>
              </a:buClr>
              <a:buSzPts val="2400"/>
              <a:defRPr/>
            </a:pPr>
            <a:r>
              <a:rPr lang="en-GB" sz="2000" u="sng" dirty="0"/>
              <a:t>Dimensions</a:t>
            </a:r>
            <a:endParaRPr lang="en-GB" sz="2000" u="sng" dirty="0">
              <a:solidFill>
                <a:schemeClr val="dk1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823285" y="2261938"/>
            <a:ext cx="3060834" cy="11935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dirty="0"/>
              <a:t>The prediction of damage, bereavement and stoppage of income in a dire event.</a:t>
            </a:r>
          </a:p>
        </p:txBody>
      </p:sp>
      <p:sp>
        <p:nvSpPr>
          <p:cNvPr id="30" name="Google Shape;208;p17"/>
          <p:cNvSpPr txBox="1">
            <a:spLocks/>
          </p:cNvSpPr>
          <p:nvPr/>
        </p:nvSpPr>
        <p:spPr>
          <a:xfrm>
            <a:off x="6168189" y="1733198"/>
            <a:ext cx="2406316" cy="507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355600" lvl="1" indent="-290513" algn="ctr" fontAlgn="base">
              <a:buClr>
                <a:schemeClr val="accent1"/>
              </a:buClr>
              <a:buSzPts val="2400"/>
              <a:defRPr/>
            </a:pPr>
            <a:r>
              <a:rPr lang="en-GB" sz="2000" u="sng" dirty="0"/>
              <a:t>Descriptions</a:t>
            </a:r>
            <a:endParaRPr lang="en-GB" sz="2000" u="sng" dirty="0">
              <a:solidFill>
                <a:schemeClr val="dk1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821680" y="3983256"/>
            <a:ext cx="3060834" cy="11935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dirty="0"/>
              <a:t>Coping abilities and methods determine the ability or difficulty of recovering from a disaster.</a:t>
            </a:r>
          </a:p>
        </p:txBody>
      </p:sp>
      <p:sp>
        <p:nvSpPr>
          <p:cNvPr id="32" name="Google Shape;208;p17"/>
          <p:cNvSpPr txBox="1">
            <a:spLocks/>
          </p:cNvSpPr>
          <p:nvPr/>
        </p:nvSpPr>
        <p:spPr>
          <a:xfrm>
            <a:off x="5435065" y="2434238"/>
            <a:ext cx="359343" cy="507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355600" lvl="1" indent="-290513" algn="ctr" fontAlgn="base">
              <a:buClr>
                <a:schemeClr val="accent1"/>
              </a:buClr>
              <a:buSzPts val="2400"/>
              <a:defRPr/>
            </a:pPr>
            <a:r>
              <a:rPr lang="en-GB" sz="2000" dirty="0"/>
              <a:t>=</a:t>
            </a:r>
            <a:endParaRPr lang="en-GB" sz="2000" dirty="0">
              <a:solidFill>
                <a:schemeClr val="dk1"/>
              </a:solidFill>
            </a:endParaRPr>
          </a:p>
        </p:txBody>
      </p:sp>
      <p:sp>
        <p:nvSpPr>
          <p:cNvPr id="33" name="Google Shape;208;p17"/>
          <p:cNvSpPr txBox="1">
            <a:spLocks/>
          </p:cNvSpPr>
          <p:nvPr/>
        </p:nvSpPr>
        <p:spPr>
          <a:xfrm>
            <a:off x="5481588" y="4367311"/>
            <a:ext cx="359343" cy="507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355600" lvl="1" indent="-290513" algn="ctr" fontAlgn="base">
              <a:buClr>
                <a:schemeClr val="accent1"/>
              </a:buClr>
              <a:buSzPts val="2400"/>
              <a:defRPr/>
            </a:pPr>
            <a:r>
              <a:rPr lang="en-GB" sz="2000" dirty="0"/>
              <a:t>=</a:t>
            </a:r>
            <a:endParaRPr lang="en-GB" sz="20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/>
        </p:nvSpPr>
        <p:spPr>
          <a:xfrm>
            <a:off x="3124200" y="5461000"/>
            <a:ext cx="2133600" cy="19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Verdana"/>
                <a:buNone/>
              </a:pPr>
              <a:t>34</a:t>
            </a:fld>
            <a:endParaRPr dirty="0"/>
          </a:p>
        </p:txBody>
      </p:sp>
      <p:sp>
        <p:nvSpPr>
          <p:cNvPr id="165" name="Google Shape;165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0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ctr" anchorCtr="0">
            <a:noAutofit/>
          </a:bodyPr>
          <a:lstStyle/>
          <a:p>
            <a:pPr lvl="0">
              <a:buClr>
                <a:schemeClr val="lt1"/>
              </a:buClr>
              <a:buSzPts val="3600"/>
            </a:pPr>
            <a:r>
              <a:rPr lang="en-US" sz="3600" dirty="0"/>
              <a:t>ICT4D Design Approaches…</a:t>
            </a:r>
            <a:endParaRPr dirty="0"/>
          </a:p>
        </p:txBody>
      </p:sp>
      <p:sp>
        <p:nvSpPr>
          <p:cNvPr id="108548" name="AutoShape 4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0" name="AutoShape 6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2" name="AutoShape 8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6" name="AutoShape 12" descr="Image result for bricks hous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250" name="AutoShape 2" descr="Image result for if you fail to plan you plan to fail quo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252" name="AutoShape 4" descr="Image result for if you fail to plan you plan to fail quo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254" name="AutoShape 6" descr="Image result for if you fail to plan you plan to fail quo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Google Shape;208;p17"/>
          <p:cNvSpPr txBox="1">
            <a:spLocks/>
          </p:cNvSpPr>
          <p:nvPr/>
        </p:nvSpPr>
        <p:spPr>
          <a:xfrm>
            <a:off x="-1" y="1188132"/>
            <a:ext cx="8922619" cy="730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522288" lvl="1" indent="-457200" algn="just">
              <a:spcBef>
                <a:spcPts val="1200"/>
              </a:spcBef>
              <a:buClr>
                <a:schemeClr val="accent1"/>
              </a:buClr>
              <a:buSzPts val="2400"/>
              <a:defRPr/>
            </a:pPr>
            <a: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 i="1" dirty="0">
                <a:solidFill>
                  <a:schemeClr val="dk1"/>
                </a:solidFill>
              </a:rPr>
              <a:t>. Vulnerability Approach…</a:t>
            </a:r>
          </a:p>
        </p:txBody>
      </p:sp>
      <p:sp>
        <p:nvSpPr>
          <p:cNvPr id="25" name="Google Shape;208;p17"/>
          <p:cNvSpPr txBox="1">
            <a:spLocks/>
          </p:cNvSpPr>
          <p:nvPr/>
        </p:nvSpPr>
        <p:spPr>
          <a:xfrm>
            <a:off x="288758" y="1802177"/>
            <a:ext cx="8547234" cy="3703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355600" lvl="1" indent="-290513" algn="just" fontAlgn="base">
              <a:buClr>
                <a:schemeClr val="accent1"/>
              </a:buClr>
              <a:buSzPts val="2400"/>
              <a:buFont typeface="Arial" pitchFamily="34" charset="0"/>
              <a:buChar char="•"/>
              <a:defRPr/>
            </a:pPr>
            <a:r>
              <a:rPr lang="en-GB" sz="2400" dirty="0"/>
              <a:t>vulnerabilities approach has shifted and enlarged into three different views: </a:t>
            </a:r>
          </a:p>
          <a:p>
            <a:pPr marL="895350" lvl="3" indent="-355600" algn="just" fontAlgn="base">
              <a:buClr>
                <a:schemeClr val="accent1"/>
              </a:buClr>
              <a:buSzPts val="2400"/>
              <a:buFont typeface="+mj-lt"/>
              <a:buAutoNum type="romanLcPeriod"/>
              <a:defRPr/>
            </a:pPr>
            <a:r>
              <a:rPr lang="en-GB" sz="2400" dirty="0"/>
              <a:t>Nature as cause of people’s vulnerability, e.g. disasters 	and hazards; </a:t>
            </a:r>
          </a:p>
          <a:p>
            <a:pPr marL="895350" lvl="3" indent="-355600" algn="just" fontAlgn="base">
              <a:buClr>
                <a:schemeClr val="accent1"/>
              </a:buClr>
              <a:buSzPts val="2400"/>
              <a:buFont typeface="+mj-lt"/>
              <a:buAutoNum type="romanLcPeriod"/>
              <a:defRPr/>
            </a:pPr>
            <a:r>
              <a:rPr lang="en-GB" sz="2400" dirty="0"/>
              <a:t>Cost as a cause of vulnerability, e.g. </a:t>
            </a:r>
            <a:r>
              <a:rPr lang="en-GB" sz="2400" u="sng" dirty="0"/>
              <a:t>prediction</a:t>
            </a:r>
            <a:r>
              <a:rPr lang="en-GB" sz="2400" dirty="0"/>
              <a:t> and </a:t>
            </a:r>
            <a:r>
              <a:rPr lang="en-GB" sz="2400" u="sng" dirty="0"/>
              <a:t>mitigation technologies </a:t>
            </a:r>
            <a:r>
              <a:rPr lang="en-GB" sz="2400" dirty="0"/>
              <a:t>are expensive even though they can detect natural disasters or economic shocks; </a:t>
            </a:r>
          </a:p>
          <a:p>
            <a:pPr marL="895350" lvl="3" indent="-355600" algn="just" fontAlgn="base">
              <a:buClr>
                <a:schemeClr val="accent1"/>
              </a:buClr>
              <a:buSzPts val="2400"/>
              <a:buFont typeface="+mj-lt"/>
              <a:buAutoNum type="romanLcPeriod"/>
              <a:defRPr/>
            </a:pPr>
            <a:r>
              <a:rPr lang="en-GB" sz="2400" dirty="0"/>
              <a:t>Societal structures: socio-economic and political processes in society.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/>
        </p:nvSpPr>
        <p:spPr>
          <a:xfrm>
            <a:off x="3124200" y="5461000"/>
            <a:ext cx="2133600" cy="19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Verdana"/>
                <a:buNone/>
              </a:pPr>
              <a:t>35</a:t>
            </a:fld>
            <a:endParaRPr dirty="0"/>
          </a:p>
        </p:txBody>
      </p:sp>
      <p:sp>
        <p:nvSpPr>
          <p:cNvPr id="165" name="Google Shape;165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0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ctr" anchorCtr="0">
            <a:noAutofit/>
          </a:bodyPr>
          <a:lstStyle/>
          <a:p>
            <a:pPr lvl="0">
              <a:buClr>
                <a:schemeClr val="lt1"/>
              </a:buClr>
              <a:buSzPts val="3600"/>
            </a:pPr>
            <a:r>
              <a:rPr lang="en-US" sz="3600" dirty="0"/>
              <a:t>ICT4D Design Approaches…</a:t>
            </a:r>
            <a:endParaRPr dirty="0"/>
          </a:p>
        </p:txBody>
      </p:sp>
      <p:sp>
        <p:nvSpPr>
          <p:cNvPr id="108548" name="AutoShape 4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0" name="AutoShape 6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2" name="AutoShape 8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6" name="AutoShape 12" descr="Image result for bricks hous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250" name="AutoShape 2" descr="Image result for if you fail to plan you plan to fail quo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252" name="AutoShape 4" descr="Image result for if you fail to plan you plan to fail quo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254" name="AutoShape 6" descr="Image result for if you fail to plan you plan to fail quo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Google Shape;208;p17"/>
          <p:cNvSpPr txBox="1">
            <a:spLocks/>
          </p:cNvSpPr>
          <p:nvPr/>
        </p:nvSpPr>
        <p:spPr>
          <a:xfrm>
            <a:off x="-1" y="1094995"/>
            <a:ext cx="8922619" cy="730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522288" lvl="1" indent="-457200" algn="just">
              <a:spcBef>
                <a:spcPts val="1200"/>
              </a:spcBef>
              <a:buClr>
                <a:schemeClr val="accent1"/>
              </a:buClr>
              <a:buSzPts val="2400"/>
              <a:defRPr/>
            </a:pPr>
            <a: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 i="1" dirty="0">
                <a:solidFill>
                  <a:schemeClr val="dk1"/>
                </a:solidFill>
              </a:rPr>
              <a:t>. Vulnerability Approach…</a:t>
            </a:r>
          </a:p>
        </p:txBody>
      </p:sp>
      <p:sp>
        <p:nvSpPr>
          <p:cNvPr id="25" name="Google Shape;208;p17"/>
          <p:cNvSpPr txBox="1">
            <a:spLocks/>
          </p:cNvSpPr>
          <p:nvPr/>
        </p:nvSpPr>
        <p:spPr>
          <a:xfrm>
            <a:off x="288757" y="1802177"/>
            <a:ext cx="6217921" cy="3703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355600" lvl="1" indent="-290513" algn="just" fontAlgn="base">
              <a:buClr>
                <a:schemeClr val="accent1"/>
              </a:buClr>
              <a:buSzPts val="2400"/>
              <a:buFont typeface="Arial" pitchFamily="34" charset="0"/>
              <a:buChar char="•"/>
              <a:defRPr/>
            </a:pPr>
            <a:r>
              <a:rPr lang="en-GB" sz="2400" dirty="0"/>
              <a:t>Vulnerabilities approach has the following classes: </a:t>
            </a:r>
          </a:p>
          <a:p>
            <a:pPr marL="895350" lvl="3" indent="-355600" algn="just" fontAlgn="base">
              <a:spcBef>
                <a:spcPts val="600"/>
              </a:spcBef>
              <a:buClr>
                <a:schemeClr val="accent1"/>
              </a:buClr>
              <a:buSzPts val="2400"/>
              <a:buFont typeface="+mj-lt"/>
              <a:buAutoNum type="romanLcPeriod"/>
              <a:defRPr/>
            </a:pPr>
            <a:r>
              <a:rPr lang="en-GB" sz="2000" b="1" u="sng" dirty="0"/>
              <a:t>Social</a:t>
            </a:r>
            <a:r>
              <a:rPr lang="en-GB" sz="2000" b="1" dirty="0"/>
              <a:t>: </a:t>
            </a:r>
            <a:r>
              <a:rPr lang="en-GB" sz="2000" dirty="0"/>
              <a:t>The reduction of asset possession because it often means lower opportunities for social mobility; </a:t>
            </a:r>
          </a:p>
          <a:p>
            <a:pPr marL="895350" lvl="3" indent="-355600" algn="just" fontAlgn="base">
              <a:spcBef>
                <a:spcPts val="600"/>
              </a:spcBef>
              <a:buClr>
                <a:schemeClr val="accent1"/>
              </a:buClr>
              <a:buSzPts val="2400"/>
              <a:buFont typeface="+mj-lt"/>
              <a:buAutoNum type="romanLcPeriod"/>
              <a:defRPr/>
            </a:pPr>
            <a:r>
              <a:rPr lang="en-GB" sz="2000" b="1" u="sng" dirty="0"/>
              <a:t>Economic</a:t>
            </a:r>
            <a:r>
              <a:rPr lang="en-GB" sz="2000" b="1" dirty="0"/>
              <a:t>: </a:t>
            </a:r>
            <a:r>
              <a:rPr lang="en-GB" sz="2000" dirty="0"/>
              <a:t>Existence within the lowest standard levels. For example </a:t>
            </a:r>
            <a:r>
              <a:rPr lang="en-GB" sz="2000" dirty="0" err="1"/>
              <a:t>BoP</a:t>
            </a:r>
            <a:r>
              <a:rPr lang="en-GB" sz="2000" dirty="0"/>
              <a:t>, LDC etc.</a:t>
            </a:r>
          </a:p>
          <a:p>
            <a:pPr marL="895350" lvl="3" indent="-355600" algn="just" fontAlgn="base">
              <a:spcBef>
                <a:spcPts val="600"/>
              </a:spcBef>
              <a:buClr>
                <a:schemeClr val="accent1"/>
              </a:buClr>
              <a:buSzPts val="2400"/>
              <a:buFont typeface="+mj-lt"/>
              <a:buAutoNum type="romanLcPeriod"/>
              <a:defRPr/>
            </a:pPr>
            <a:r>
              <a:rPr lang="en-GB" sz="2000" b="1" u="sng" dirty="0"/>
              <a:t>Environmental</a:t>
            </a:r>
            <a:r>
              <a:rPr lang="en-GB" sz="2000" b="1" dirty="0"/>
              <a:t>: </a:t>
            </a:r>
            <a:r>
              <a:rPr lang="en-GB" sz="2000" dirty="0"/>
              <a:t>Exposure to natural disasters and human activities which make a country’s natural surroundings susceptible to hostile environmental threats.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583680" y="2579573"/>
          <a:ext cx="2435192" cy="2723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5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58754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  <a:p>
                      <a:pPr algn="ctr"/>
                      <a:r>
                        <a:rPr lang="en-GB" sz="2000" b="1" dirty="0">
                          <a:solidFill>
                            <a:schemeClr val="tx1"/>
                          </a:solidFill>
                        </a:rPr>
                        <a:t>ICT for Health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8754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GB" sz="2000" b="1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ICT for sustainable livelihood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8754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GB" sz="2000" b="1" dirty="0">
                          <a:solidFill>
                            <a:schemeClr val="tx1"/>
                          </a:solidFill>
                        </a:rPr>
                        <a:t>ICT and disasters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Google Shape;208;p17"/>
          <p:cNvSpPr txBox="1">
            <a:spLocks/>
          </p:cNvSpPr>
          <p:nvPr/>
        </p:nvSpPr>
        <p:spPr>
          <a:xfrm>
            <a:off x="6574056" y="1655547"/>
            <a:ext cx="2569944" cy="902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355600" lvl="1" indent="-290513" algn="just" fontAlgn="base">
              <a:buClr>
                <a:schemeClr val="accent1"/>
              </a:buClr>
              <a:buSzPts val="2400"/>
              <a:defRPr/>
            </a:pPr>
            <a:r>
              <a:rPr lang="en-GB" sz="20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Examples of ICT </a:t>
            </a:r>
            <a:r>
              <a:rPr lang="en-GB" sz="2000" b="1" u="sng" dirty="0">
                <a:solidFill>
                  <a:schemeClr val="tx1">
                    <a:lumMod val="60000"/>
                    <a:lumOff val="40000"/>
                  </a:schemeClr>
                </a:solidFill>
              </a:rPr>
              <a:t>interventions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/>
        </p:nvSpPr>
        <p:spPr>
          <a:xfrm>
            <a:off x="3124200" y="5461000"/>
            <a:ext cx="2133600" cy="19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Verdana"/>
                <a:buNone/>
              </a:pPr>
              <a:t>36</a:t>
            </a:fld>
            <a:endParaRPr dirty="0"/>
          </a:p>
        </p:txBody>
      </p:sp>
      <p:sp>
        <p:nvSpPr>
          <p:cNvPr id="165" name="Google Shape;165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0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ctr" anchorCtr="0">
            <a:noAutofit/>
          </a:bodyPr>
          <a:lstStyle/>
          <a:p>
            <a:pPr lvl="0">
              <a:buClr>
                <a:schemeClr val="lt1"/>
              </a:buClr>
              <a:buSzPts val="3600"/>
            </a:pPr>
            <a:r>
              <a:rPr lang="en-US" sz="3600" dirty="0"/>
              <a:t>ICT4D Design Approaches…</a:t>
            </a:r>
            <a:endParaRPr dirty="0"/>
          </a:p>
        </p:txBody>
      </p:sp>
      <p:sp>
        <p:nvSpPr>
          <p:cNvPr id="108548" name="AutoShape 4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0" name="AutoShape 6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2" name="AutoShape 8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6" name="AutoShape 12" descr="Image result for bricks hous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Google Shape;208;p17"/>
          <p:cNvSpPr txBox="1">
            <a:spLocks/>
          </p:cNvSpPr>
          <p:nvPr/>
        </p:nvSpPr>
        <p:spPr>
          <a:xfrm>
            <a:off x="288758" y="1802177"/>
            <a:ext cx="3705726" cy="377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355600" lvl="1" indent="-290513" algn="just" fontAlgn="base">
              <a:buClr>
                <a:schemeClr val="accent1"/>
              </a:buClr>
              <a:buSzPts val="2400"/>
              <a:buFont typeface="Arial" pitchFamily="34" charset="0"/>
              <a:buChar char="•"/>
              <a:defRPr/>
            </a:pPr>
            <a:r>
              <a:rPr lang="en-GB" sz="2400" dirty="0"/>
              <a:t>DSA involves the process of conceiving, constructing, and implementing an </a:t>
            </a:r>
            <a:r>
              <a:rPr lang="en-GB" sz="2400" dirty="0" err="1"/>
              <a:t>artifact</a:t>
            </a:r>
            <a:r>
              <a:rPr lang="en-GB" sz="2400" dirty="0"/>
              <a:t> as a tool for the study.</a:t>
            </a:r>
          </a:p>
          <a:p>
            <a:pPr marL="355600" lvl="1" indent="-290513" algn="just" fontAlgn="base">
              <a:buClr>
                <a:schemeClr val="accent1"/>
              </a:buClr>
              <a:buSzPts val="2400"/>
              <a:buFont typeface="Arial" pitchFamily="34" charset="0"/>
              <a:buChar char="•"/>
              <a:defRPr/>
            </a:pPr>
            <a:endParaRPr lang="en-GB" sz="2400" dirty="0"/>
          </a:p>
          <a:p>
            <a:pPr marL="355600" lvl="1" indent="-290513" algn="just" fontAlgn="base">
              <a:buClr>
                <a:schemeClr val="accent1"/>
              </a:buClr>
              <a:buSzPts val="2400"/>
              <a:buFont typeface="Arial" pitchFamily="34" charset="0"/>
              <a:buChar char="•"/>
              <a:defRPr/>
            </a:pPr>
            <a:r>
              <a:rPr lang="en-GB" sz="2400" dirty="0" err="1"/>
              <a:t>Artifact</a:t>
            </a:r>
            <a:r>
              <a:rPr lang="en-GB" sz="2400" dirty="0"/>
              <a:t> can be a software, framework, guideline etc</a:t>
            </a:r>
            <a:endParaRPr lang="en-GB" sz="2400" dirty="0">
              <a:solidFill>
                <a:schemeClr val="dk1"/>
              </a:solidFill>
            </a:endParaRPr>
          </a:p>
        </p:txBody>
      </p:sp>
      <p:sp>
        <p:nvSpPr>
          <p:cNvPr id="53250" name="AutoShape 2" descr="Image result for if you fail to plan you plan to fail quo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252" name="AutoShape 4" descr="Image result for if you fail to plan you plan to fail quo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254" name="AutoShape 6" descr="Image result for if you fail to plan you plan to fail quo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Google Shape;208;p17"/>
          <p:cNvSpPr txBox="1">
            <a:spLocks/>
          </p:cNvSpPr>
          <p:nvPr/>
        </p:nvSpPr>
        <p:spPr>
          <a:xfrm>
            <a:off x="-1" y="1094995"/>
            <a:ext cx="8922619" cy="730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522288" lvl="1" indent="-457200" algn="just">
              <a:spcBef>
                <a:spcPts val="1200"/>
              </a:spcBef>
              <a:buClr>
                <a:schemeClr val="accent1"/>
              </a:buClr>
              <a:buSzPts val="2400"/>
              <a:defRPr/>
            </a:pPr>
            <a: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b="1" i="1" dirty="0">
                <a:solidFill>
                  <a:schemeClr val="dk1"/>
                </a:solidFill>
              </a:rPr>
              <a:t>. Design Science Approach</a:t>
            </a:r>
            <a:endParaRPr kumimoji="0" lang="en-US" sz="2400" b="1" i="1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426" name="Picture 2" descr="Image result for design science approach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01865" y="1549671"/>
            <a:ext cx="5013260" cy="381812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/>
        </p:nvSpPr>
        <p:spPr>
          <a:xfrm>
            <a:off x="3124200" y="5461000"/>
            <a:ext cx="2133600" cy="19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Verdana"/>
                <a:buNone/>
              </a:pPr>
              <a:t>37</a:t>
            </a:fld>
            <a:endParaRPr dirty="0"/>
          </a:p>
        </p:txBody>
      </p:sp>
      <p:sp>
        <p:nvSpPr>
          <p:cNvPr id="165" name="Google Shape;165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0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ctr" anchorCtr="0">
            <a:noAutofit/>
          </a:bodyPr>
          <a:lstStyle/>
          <a:p>
            <a:pPr lvl="0">
              <a:buClr>
                <a:schemeClr val="lt1"/>
              </a:buClr>
              <a:buSzPts val="3600"/>
            </a:pPr>
            <a:r>
              <a:rPr lang="en-US" sz="3600" dirty="0"/>
              <a:t>ICT4D Design Approaches…</a:t>
            </a:r>
            <a:endParaRPr dirty="0"/>
          </a:p>
        </p:txBody>
      </p:sp>
      <p:sp>
        <p:nvSpPr>
          <p:cNvPr id="108548" name="AutoShape 4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0" name="AutoShape 6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2" name="AutoShape 8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6" name="AutoShape 12" descr="Image result for bricks hous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Google Shape;208;p17"/>
          <p:cNvSpPr txBox="1">
            <a:spLocks/>
          </p:cNvSpPr>
          <p:nvPr/>
        </p:nvSpPr>
        <p:spPr>
          <a:xfrm>
            <a:off x="288757" y="1802177"/>
            <a:ext cx="8537609" cy="377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355600" lvl="1" indent="-290513" algn="just" fontAlgn="base">
              <a:buClr>
                <a:schemeClr val="accent1"/>
              </a:buClr>
              <a:buSzPts val="2400"/>
              <a:buFont typeface="Arial" pitchFamily="34" charset="0"/>
              <a:buChar char="•"/>
              <a:defRPr/>
            </a:pPr>
            <a:r>
              <a:rPr lang="en-GB" sz="2400" dirty="0"/>
              <a:t>CA places the individual’s human capabilities at its centre. </a:t>
            </a:r>
          </a:p>
        </p:txBody>
      </p:sp>
      <p:sp>
        <p:nvSpPr>
          <p:cNvPr id="53250" name="AutoShape 2" descr="Image result for if you fail to plan you plan to fail quo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252" name="AutoShape 4" descr="Image result for if you fail to plan you plan to fail quo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254" name="AutoShape 6" descr="Image result for if you fail to plan you plan to fail quo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Google Shape;208;p17"/>
          <p:cNvSpPr txBox="1">
            <a:spLocks/>
          </p:cNvSpPr>
          <p:nvPr/>
        </p:nvSpPr>
        <p:spPr>
          <a:xfrm>
            <a:off x="-1" y="1094995"/>
            <a:ext cx="8922619" cy="730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522288" lvl="1" indent="-457200" algn="just">
              <a:spcBef>
                <a:spcPts val="1200"/>
              </a:spcBef>
              <a:buClr>
                <a:schemeClr val="accent1"/>
              </a:buClr>
              <a:buSzPts val="2400"/>
              <a:defRPr/>
            </a:pPr>
            <a: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sz="2400" b="1" i="1" dirty="0">
                <a:solidFill>
                  <a:schemeClr val="dk1"/>
                </a:solidFill>
              </a:rPr>
              <a:t>. Capability Approach</a:t>
            </a:r>
            <a:endParaRPr kumimoji="0" lang="en-US" sz="2400" b="1" i="1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523" name="Picture 3"/>
          <p:cNvPicPr>
            <a:picLocks noChangeAspect="1" noChangeArrowheads="1"/>
          </p:cNvPicPr>
          <p:nvPr/>
        </p:nvPicPr>
        <p:blipFill>
          <a:blip r:embed="rId3"/>
          <a:srcRect l="4174" t="18203" r="29696" b="13275"/>
          <a:stretch>
            <a:fillRect/>
          </a:stretch>
        </p:blipFill>
        <p:spPr bwMode="auto">
          <a:xfrm>
            <a:off x="1809550" y="2348564"/>
            <a:ext cx="6862813" cy="3366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/>
        </p:nvSpPr>
        <p:spPr>
          <a:xfrm>
            <a:off x="3124200" y="5461000"/>
            <a:ext cx="2133600" cy="19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Verdana"/>
                <a:buNone/>
              </a:pPr>
              <a:t>38</a:t>
            </a:fld>
            <a:endParaRPr dirty="0"/>
          </a:p>
        </p:txBody>
      </p:sp>
      <p:sp>
        <p:nvSpPr>
          <p:cNvPr id="108548" name="AutoShape 4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0" name="AutoShape 6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2" name="AutoShape 8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6" name="AutoShape 12" descr="Image result for bricks hous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Google Shape;208;p17"/>
          <p:cNvSpPr txBox="1">
            <a:spLocks/>
          </p:cNvSpPr>
          <p:nvPr/>
        </p:nvSpPr>
        <p:spPr>
          <a:xfrm>
            <a:off x="182879" y="1937287"/>
            <a:ext cx="4340995" cy="3568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87313" lvl="1" indent="-22225" algn="just">
              <a:buClr>
                <a:schemeClr val="accent1"/>
              </a:buClr>
              <a:buSzPts val="2400"/>
            </a:pPr>
            <a:r>
              <a:rPr lang="en-GB" sz="1800" dirty="0">
                <a:solidFill>
                  <a:schemeClr val="dk1"/>
                </a:solidFill>
              </a:rPr>
              <a:t>A systems approach can be used to reveal the sensitive and vulnerable natural and human systems. Systems approach considers:</a:t>
            </a:r>
          </a:p>
          <a:p>
            <a:pPr marL="622300" lvl="3" indent="-266700" algn="just"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ts val="2400"/>
              <a:buFont typeface="Courier New" pitchFamily="49" charset="0"/>
              <a:buChar char="o"/>
            </a:pPr>
            <a:r>
              <a:rPr lang="en-US" sz="1800" dirty="0">
                <a:solidFill>
                  <a:schemeClr val="dk1"/>
                </a:solidFill>
              </a:rPr>
              <a:t>Input, process and output</a:t>
            </a:r>
          </a:p>
          <a:p>
            <a:pPr marL="622300" lvl="3" indent="-266700" algn="just"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ts val="2400"/>
              <a:buFont typeface="Courier New" pitchFamily="49" charset="0"/>
              <a:buChar char="o"/>
            </a:pPr>
            <a:r>
              <a:rPr lang="en-US" sz="1800" dirty="0">
                <a:solidFill>
                  <a:schemeClr val="dk1"/>
                </a:solidFill>
              </a:rPr>
              <a:t>Nature of the system boundaries;</a:t>
            </a:r>
          </a:p>
          <a:p>
            <a:pPr marL="622300" lvl="3" indent="-266700" algn="just"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ts val="2400"/>
              <a:buFont typeface="Courier New" pitchFamily="49" charset="0"/>
              <a:buChar char="o"/>
            </a:pPr>
            <a:r>
              <a:rPr lang="en-US" sz="1800" dirty="0">
                <a:solidFill>
                  <a:schemeClr val="dk1"/>
                </a:solidFill>
              </a:rPr>
              <a:t>Type of the subsystems</a:t>
            </a:r>
          </a:p>
          <a:p>
            <a:pPr marL="622300" lvl="3" indent="-266700" algn="just"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ts val="2400"/>
              <a:buFont typeface="Courier New" pitchFamily="49" charset="0"/>
              <a:buChar char="o"/>
            </a:pPr>
            <a:r>
              <a:rPr lang="en-US" sz="1800" dirty="0">
                <a:solidFill>
                  <a:schemeClr val="dk1"/>
                </a:solidFill>
              </a:rPr>
              <a:t>Interactivity of subsystems</a:t>
            </a:r>
          </a:p>
          <a:p>
            <a:pPr marL="622300" lvl="3" indent="-266700" algn="just"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ts val="2400"/>
              <a:buFont typeface="Courier New" pitchFamily="49" charset="0"/>
              <a:buChar char="o"/>
            </a:pPr>
            <a:r>
              <a:rPr lang="en-US" sz="1800" dirty="0">
                <a:solidFill>
                  <a:schemeClr val="dk1"/>
                </a:solidFill>
              </a:rPr>
              <a:t>Contexts of subsystems</a:t>
            </a:r>
            <a:endParaRPr lang="en-GB" sz="1800" i="1" dirty="0">
              <a:solidFill>
                <a:schemeClr val="dk1"/>
              </a:solidFill>
            </a:endParaRPr>
          </a:p>
        </p:txBody>
      </p:sp>
      <p:sp>
        <p:nvSpPr>
          <p:cNvPr id="25" name="Google Shape;165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0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ctr" anchorCtr="0">
            <a:noAutofit/>
          </a:bodyPr>
          <a:lstStyle/>
          <a:p>
            <a:pPr lvl="0">
              <a:buClr>
                <a:schemeClr val="lt1"/>
              </a:buClr>
              <a:buSzPts val="3600"/>
            </a:pPr>
            <a:r>
              <a:rPr lang="en-US" sz="3600" dirty="0"/>
              <a:t>ICT4D Design Approaches…</a:t>
            </a:r>
            <a:endParaRPr dirty="0"/>
          </a:p>
        </p:txBody>
      </p:sp>
      <p:sp>
        <p:nvSpPr>
          <p:cNvPr id="14" name="Google Shape;208;p17"/>
          <p:cNvSpPr txBox="1">
            <a:spLocks/>
          </p:cNvSpPr>
          <p:nvPr/>
        </p:nvSpPr>
        <p:spPr>
          <a:xfrm>
            <a:off x="0" y="1124732"/>
            <a:ext cx="6166022" cy="673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55563" lvl="1" indent="9525" algn="just">
              <a:spcBef>
                <a:spcPts val="1200"/>
              </a:spcBef>
              <a:buClr>
                <a:schemeClr val="accent1"/>
              </a:buClr>
              <a:buSzPts val="2400"/>
              <a:tabLst>
                <a:tab pos="55563" algn="l"/>
              </a:tabLst>
            </a:pPr>
            <a:r>
              <a:rPr lang="en-US" sz="2400" b="1" i="1" dirty="0">
                <a:solidFill>
                  <a:schemeClr val="dk1"/>
                </a:solidFill>
              </a:rPr>
              <a:t>5. The Systems Approach</a:t>
            </a:r>
            <a:endParaRPr kumimoji="0" lang="en-US" sz="2400" b="1" i="1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Picture 1"/>
          <p:cNvPicPr>
            <a:picLocks noChangeAspect="1" noChangeArrowheads="1"/>
          </p:cNvPicPr>
          <p:nvPr/>
        </p:nvPicPr>
        <p:blipFill>
          <a:blip r:embed="rId3"/>
          <a:srcRect l="21326" t="26319" r="22261" b="24522"/>
          <a:stretch>
            <a:fillRect/>
          </a:stretch>
        </p:blipFill>
        <p:spPr bwMode="auto">
          <a:xfrm>
            <a:off x="4600877" y="1876922"/>
            <a:ext cx="4543124" cy="348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797308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/>
        </p:nvSpPr>
        <p:spPr>
          <a:xfrm>
            <a:off x="3124200" y="5461000"/>
            <a:ext cx="2133600" cy="19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Verdana"/>
                <a:buNone/>
              </a:pPr>
              <a:t>39</a:t>
            </a:fld>
            <a:endParaRPr dirty="0"/>
          </a:p>
        </p:txBody>
      </p:sp>
      <p:sp>
        <p:nvSpPr>
          <p:cNvPr id="108548" name="AutoShape 4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0" name="AutoShape 6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2" name="AutoShape 8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6" name="AutoShape 12" descr="Image result for bricks hous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Google Shape;208;p17"/>
          <p:cNvSpPr txBox="1">
            <a:spLocks/>
          </p:cNvSpPr>
          <p:nvPr/>
        </p:nvSpPr>
        <p:spPr>
          <a:xfrm>
            <a:off x="182879" y="1937287"/>
            <a:ext cx="4340995" cy="3568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87313" lvl="1" indent="-22225" algn="just">
              <a:buClr>
                <a:schemeClr val="accent1"/>
              </a:buClr>
              <a:buSzPts val="2400"/>
            </a:pPr>
            <a:r>
              <a:rPr lang="en-GB" sz="1800" dirty="0">
                <a:solidFill>
                  <a:schemeClr val="dk1"/>
                </a:solidFill>
              </a:rPr>
              <a:t>A systems approach can be used to reveal the sensitive and vulnerable natural and human systems. Systems approach considers:</a:t>
            </a:r>
          </a:p>
          <a:p>
            <a:pPr marL="622300" lvl="3" indent="-266700" algn="just"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ts val="2400"/>
              <a:buFont typeface="Courier New" pitchFamily="49" charset="0"/>
              <a:buChar char="o"/>
            </a:pPr>
            <a:r>
              <a:rPr lang="en-US" sz="1800" dirty="0">
                <a:solidFill>
                  <a:schemeClr val="dk1"/>
                </a:solidFill>
              </a:rPr>
              <a:t>Input, process and output</a:t>
            </a:r>
          </a:p>
          <a:p>
            <a:pPr marL="622300" lvl="3" indent="-266700" algn="just"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ts val="2400"/>
              <a:buFont typeface="Courier New" pitchFamily="49" charset="0"/>
              <a:buChar char="o"/>
            </a:pPr>
            <a:r>
              <a:rPr lang="en-US" sz="1800" dirty="0">
                <a:solidFill>
                  <a:schemeClr val="dk1"/>
                </a:solidFill>
              </a:rPr>
              <a:t>Nature of the system boundaries;</a:t>
            </a:r>
          </a:p>
          <a:p>
            <a:pPr marL="622300" lvl="3" indent="-266700" algn="just"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ts val="2400"/>
              <a:buFont typeface="Courier New" pitchFamily="49" charset="0"/>
              <a:buChar char="o"/>
            </a:pPr>
            <a:r>
              <a:rPr lang="en-US" sz="1800" dirty="0">
                <a:solidFill>
                  <a:schemeClr val="dk1"/>
                </a:solidFill>
              </a:rPr>
              <a:t>Type of the subsystems</a:t>
            </a:r>
          </a:p>
          <a:p>
            <a:pPr marL="622300" lvl="3" indent="-266700" algn="just"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ts val="2400"/>
              <a:buFont typeface="Courier New" pitchFamily="49" charset="0"/>
              <a:buChar char="o"/>
            </a:pPr>
            <a:r>
              <a:rPr lang="en-US" sz="1800" dirty="0">
                <a:solidFill>
                  <a:schemeClr val="dk1"/>
                </a:solidFill>
              </a:rPr>
              <a:t>Interactivity of subsystems</a:t>
            </a:r>
          </a:p>
          <a:p>
            <a:pPr marL="622300" lvl="3" indent="-266700" algn="just"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ts val="2400"/>
              <a:buFont typeface="Courier New" pitchFamily="49" charset="0"/>
              <a:buChar char="o"/>
            </a:pPr>
            <a:r>
              <a:rPr lang="en-US" sz="1800" dirty="0">
                <a:solidFill>
                  <a:schemeClr val="dk1"/>
                </a:solidFill>
              </a:rPr>
              <a:t>Contexts of subsystems</a:t>
            </a:r>
            <a:endParaRPr lang="en-GB" sz="1800" i="1" dirty="0">
              <a:solidFill>
                <a:schemeClr val="dk1"/>
              </a:solidFill>
            </a:endParaRPr>
          </a:p>
        </p:txBody>
      </p:sp>
      <p:sp>
        <p:nvSpPr>
          <p:cNvPr id="25" name="Google Shape;165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0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ctr" anchorCtr="0">
            <a:noAutofit/>
          </a:bodyPr>
          <a:lstStyle/>
          <a:p>
            <a:pPr lvl="0">
              <a:buClr>
                <a:schemeClr val="lt1"/>
              </a:buClr>
              <a:buSzPts val="3600"/>
            </a:pPr>
            <a:r>
              <a:rPr lang="en-US" sz="3600" dirty="0"/>
              <a:t>ICT4D Design Approaches…</a:t>
            </a:r>
            <a:endParaRPr dirty="0"/>
          </a:p>
        </p:txBody>
      </p:sp>
      <p:sp>
        <p:nvSpPr>
          <p:cNvPr id="14" name="Google Shape;208;p17"/>
          <p:cNvSpPr txBox="1">
            <a:spLocks/>
          </p:cNvSpPr>
          <p:nvPr/>
        </p:nvSpPr>
        <p:spPr>
          <a:xfrm>
            <a:off x="0" y="1124732"/>
            <a:ext cx="6166022" cy="673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55563" lvl="1" indent="9525" algn="just">
              <a:spcBef>
                <a:spcPts val="1200"/>
              </a:spcBef>
              <a:buClr>
                <a:schemeClr val="accent1"/>
              </a:buClr>
              <a:buSzPts val="2400"/>
              <a:tabLst>
                <a:tab pos="55563" algn="l"/>
              </a:tabLst>
            </a:pPr>
            <a:r>
              <a:rPr lang="en-US" sz="2400" b="1" i="1" dirty="0">
                <a:solidFill>
                  <a:schemeClr val="dk1"/>
                </a:solidFill>
              </a:rPr>
              <a:t>5. The Systems Approach</a:t>
            </a:r>
            <a:endParaRPr kumimoji="0" lang="en-US" sz="2400" b="1" i="1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Picture 1"/>
          <p:cNvPicPr>
            <a:picLocks noChangeAspect="1" noChangeArrowheads="1"/>
          </p:cNvPicPr>
          <p:nvPr/>
        </p:nvPicPr>
        <p:blipFill>
          <a:blip r:embed="rId3"/>
          <a:srcRect l="21326" t="26319" r="22261" b="24522"/>
          <a:stretch>
            <a:fillRect/>
          </a:stretch>
        </p:blipFill>
        <p:spPr bwMode="auto">
          <a:xfrm>
            <a:off x="4600877" y="1876922"/>
            <a:ext cx="4543124" cy="348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797308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8"/>
          <p:cNvSpPr txBox="1"/>
          <p:nvPr/>
        </p:nvSpPr>
        <p:spPr>
          <a:xfrm>
            <a:off x="3124200" y="5461000"/>
            <a:ext cx="2133600" cy="19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Verdana"/>
                <a:buNone/>
              </a:pPr>
              <a:t>40</a:t>
            </a:fld>
            <a:endParaRPr/>
          </a:p>
        </p:txBody>
      </p:sp>
      <p:sp>
        <p:nvSpPr>
          <p:cNvPr id="296" name="Google Shape;296;p28"/>
          <p:cNvSpPr txBox="1">
            <a:spLocks noGrp="1"/>
          </p:cNvSpPr>
          <p:nvPr>
            <p:ph type="body" idx="1"/>
          </p:nvPr>
        </p:nvSpPr>
        <p:spPr>
          <a:xfrm>
            <a:off x="0" y="2278024"/>
            <a:ext cx="9144000" cy="1519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355600" lvl="0" indent="-355600" algn="ctr">
              <a:lnSpc>
                <a:spcPct val="90000"/>
              </a:lnSpc>
              <a:spcBef>
                <a:spcPts val="0"/>
              </a:spcBef>
              <a:buSzPts val="5000"/>
              <a:buNone/>
            </a:pPr>
            <a:r>
              <a:rPr lang="en-US" sz="5000" dirty="0"/>
              <a:t>Selecting ICT4D Design Approach</a:t>
            </a:r>
            <a:endParaRPr lang="en-US" sz="5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/>
        </p:nvSpPr>
        <p:spPr>
          <a:xfrm>
            <a:off x="3124200" y="5461000"/>
            <a:ext cx="2133600" cy="19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Verdana"/>
                <a:buNone/>
              </a:pPr>
              <a:t>41</a:t>
            </a:fld>
            <a:endParaRPr dirty="0"/>
          </a:p>
        </p:txBody>
      </p:sp>
      <p:sp>
        <p:nvSpPr>
          <p:cNvPr id="165" name="Google Shape;165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0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Verdana"/>
              <a:buNone/>
            </a:pPr>
            <a:r>
              <a:rPr lang="en-US" sz="3600" b="1" i="0" u="none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Selecting ICT4D Design </a:t>
            </a:r>
            <a:r>
              <a:rPr lang="en-US" sz="3600" b="1" i="0" u="none" dirty="0" err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Appr</a:t>
            </a:r>
            <a:r>
              <a:rPr lang="en-US" sz="3600" b="1" i="0" u="none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 dirty="0"/>
          </a:p>
        </p:txBody>
      </p:sp>
      <p:sp>
        <p:nvSpPr>
          <p:cNvPr id="108548" name="AutoShape 4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0" name="AutoShape 6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2" name="AutoShape 8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6" name="AutoShape 12" descr="Image result for bricks hous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Google Shape;208;p17"/>
          <p:cNvSpPr txBox="1">
            <a:spLocks/>
          </p:cNvSpPr>
          <p:nvPr/>
        </p:nvSpPr>
        <p:spPr>
          <a:xfrm>
            <a:off x="644892" y="2290660"/>
            <a:ext cx="5342021" cy="2589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355600" lvl="1" indent="-290513" algn="just" fontAlgn="base">
              <a:lnSpc>
                <a:spcPct val="150000"/>
              </a:lnSpc>
              <a:buClr>
                <a:schemeClr val="accent1"/>
              </a:buClr>
              <a:buSzPts val="2400"/>
              <a:buFont typeface="Arial" pitchFamily="34" charset="0"/>
              <a:buChar char="•"/>
              <a:defRPr/>
            </a:pPr>
            <a:r>
              <a:rPr lang="en-GB" sz="2400" dirty="0">
                <a:solidFill>
                  <a:schemeClr val="dk1"/>
                </a:solidFill>
              </a:rPr>
              <a:t>Consideration of stakeholders and their needs</a:t>
            </a:r>
          </a:p>
          <a:p>
            <a:pPr marL="355600" lvl="1" indent="-290513" algn="just" fontAlgn="base">
              <a:lnSpc>
                <a:spcPct val="150000"/>
              </a:lnSpc>
              <a:buClr>
                <a:schemeClr val="accent1"/>
              </a:buClr>
              <a:buSzPts val="2400"/>
              <a:buFont typeface="Arial" pitchFamily="34" charset="0"/>
              <a:buChar char="•"/>
              <a:defRPr/>
            </a:pPr>
            <a:r>
              <a:rPr lang="en-GB" sz="2400" dirty="0">
                <a:solidFill>
                  <a:schemeClr val="dk1"/>
                </a:solidFill>
              </a:rPr>
              <a:t>Performance of technology Versus anticipated needs</a:t>
            </a:r>
          </a:p>
        </p:txBody>
      </p:sp>
      <p:sp>
        <p:nvSpPr>
          <p:cNvPr id="53250" name="AutoShape 2" descr="Image result for if you fail to plan you plan to fail quo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252" name="AutoShape 4" descr="Image result for if you fail to plan you plan to fail quo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254" name="AutoShape 6" descr="Image result for if you fail to plan you plan to fail quo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Google Shape;208;p17"/>
          <p:cNvSpPr txBox="1">
            <a:spLocks/>
          </p:cNvSpPr>
          <p:nvPr/>
        </p:nvSpPr>
        <p:spPr>
          <a:xfrm>
            <a:off x="-1" y="1094995"/>
            <a:ext cx="8922619" cy="730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522288" marR="0" lvl="1" indent="-45720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tabLst/>
              <a:defRPr/>
            </a:pPr>
            <a: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Criteria for Selecting ICT4D</a:t>
            </a:r>
            <a:r>
              <a:rPr kumimoji="0" lang="en-US" sz="2400" b="1" i="1" u="none" strike="noStrike" kern="0" cap="none" spc="0" normalizeH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Design Approaches in a Nutshell</a:t>
            </a:r>
            <a:endParaRPr kumimoji="0" lang="en-US" sz="2400" b="1" i="1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/>
        </p:nvSpPr>
        <p:spPr>
          <a:xfrm>
            <a:off x="3124200" y="5461000"/>
            <a:ext cx="2133600" cy="19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Verdana"/>
                <a:buNone/>
              </a:pPr>
              <a:t>42</a:t>
            </a:fld>
            <a:endParaRPr dirty="0"/>
          </a:p>
        </p:txBody>
      </p:sp>
      <p:sp>
        <p:nvSpPr>
          <p:cNvPr id="108548" name="AutoShape 4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0" name="AutoShape 6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2" name="AutoShape 8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6" name="AutoShape 12" descr="Image result for bricks hous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Google Shape;208;p17"/>
          <p:cNvSpPr txBox="1">
            <a:spLocks/>
          </p:cNvSpPr>
          <p:nvPr/>
        </p:nvSpPr>
        <p:spPr>
          <a:xfrm>
            <a:off x="288758" y="1802177"/>
            <a:ext cx="3705726" cy="377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355600" lvl="1" indent="-290513" algn="just" fontAlgn="base">
              <a:buClr>
                <a:schemeClr val="accent1"/>
              </a:buClr>
              <a:buSzPts val="2400"/>
              <a:buFont typeface="Arial" pitchFamily="34" charset="0"/>
              <a:buChar char="•"/>
              <a:defRPr/>
            </a:pPr>
            <a:r>
              <a:rPr lang="en-GB" sz="2400" dirty="0"/>
              <a:t>Stakeholders interests and powers</a:t>
            </a:r>
          </a:p>
          <a:p>
            <a:pPr marL="355600" lvl="1" indent="-290513" algn="just" fontAlgn="base">
              <a:buClr>
                <a:schemeClr val="accent1"/>
              </a:buClr>
              <a:buSzPts val="2400"/>
              <a:buFont typeface="Arial" pitchFamily="34" charset="0"/>
              <a:buChar char="•"/>
              <a:defRPr/>
            </a:pPr>
            <a:endParaRPr lang="en-GB" sz="2400" dirty="0"/>
          </a:p>
          <a:p>
            <a:pPr marL="355600" lvl="1" indent="-290513" algn="just" fontAlgn="base">
              <a:buClr>
                <a:schemeClr val="accent1"/>
              </a:buClr>
              <a:buSzPts val="2400"/>
              <a:buFont typeface="Arial" pitchFamily="34" charset="0"/>
              <a:buChar char="•"/>
              <a:defRPr/>
            </a:pPr>
            <a:r>
              <a:rPr lang="en-GB" sz="2400" dirty="0"/>
              <a:t>Availability of measurements for AS-IS situation and TO-BE situation </a:t>
            </a:r>
          </a:p>
        </p:txBody>
      </p:sp>
      <p:sp>
        <p:nvSpPr>
          <p:cNvPr id="53250" name="AutoShape 2" descr="Image result for if you fail to plan you plan to fail quo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252" name="AutoShape 4" descr="Image result for if you fail to plan you plan to fail quo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254" name="AutoShape 6" descr="Image result for if you fail to plan you plan to fail quo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Google Shape;208;p17"/>
          <p:cNvSpPr txBox="1">
            <a:spLocks/>
          </p:cNvSpPr>
          <p:nvPr/>
        </p:nvSpPr>
        <p:spPr>
          <a:xfrm>
            <a:off x="-1" y="1094995"/>
            <a:ext cx="8922619" cy="730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522288" lvl="1" indent="-457200" algn="just">
              <a:spcBef>
                <a:spcPts val="1200"/>
              </a:spcBef>
              <a:buClr>
                <a:schemeClr val="accent1"/>
              </a:buClr>
              <a:buSzPts val="2400"/>
              <a:defRPr/>
            </a:pPr>
            <a: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 b="1" i="1" dirty="0">
                <a:solidFill>
                  <a:schemeClr val="dk1"/>
                </a:solidFill>
              </a:rPr>
              <a:t>. Consideration of stakeholders and their needs</a:t>
            </a:r>
            <a:endParaRPr kumimoji="0" lang="en-US" sz="2400" b="1" i="1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65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0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Verdana"/>
              <a:buNone/>
            </a:pPr>
            <a:r>
              <a:rPr lang="en-US" sz="3600" b="1" i="0" u="none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Selecting ICT4D Design </a:t>
            </a:r>
            <a:r>
              <a:rPr lang="en-US" sz="3600" b="1" i="0" u="none" dirty="0" err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Appr</a:t>
            </a:r>
            <a:r>
              <a:rPr lang="en-US" sz="3600" b="1" i="0" u="none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/>
        </p:nvSpPr>
        <p:spPr>
          <a:xfrm>
            <a:off x="3124200" y="5461000"/>
            <a:ext cx="2133600" cy="19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Verdana"/>
                <a:buNone/>
              </a:pPr>
              <a:t>43</a:t>
            </a:fld>
            <a:endParaRPr dirty="0"/>
          </a:p>
        </p:txBody>
      </p:sp>
      <p:sp>
        <p:nvSpPr>
          <p:cNvPr id="108548" name="AutoShape 4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0" name="AutoShape 6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2" name="AutoShape 8" descr="Image result for bric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556" name="AutoShape 12" descr="Image result for bricks hous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Google Shape;208;p17"/>
          <p:cNvSpPr txBox="1">
            <a:spLocks/>
          </p:cNvSpPr>
          <p:nvPr/>
        </p:nvSpPr>
        <p:spPr>
          <a:xfrm>
            <a:off x="490888" y="2023559"/>
            <a:ext cx="4446871" cy="3068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355600" lvl="1" indent="-290513" algn="just" fontAlgn="base">
              <a:buClr>
                <a:schemeClr val="accent1"/>
              </a:buClr>
              <a:buSzPts val="2400"/>
              <a:buFont typeface="Arial" pitchFamily="34" charset="0"/>
              <a:buChar char="•"/>
              <a:defRPr/>
            </a:pPr>
            <a:r>
              <a:rPr lang="en-GB" sz="2400" dirty="0"/>
              <a:t>Favourable cost-benefit analysis</a:t>
            </a:r>
          </a:p>
          <a:p>
            <a:pPr marL="355600" lvl="1" indent="-290513" algn="just" fontAlgn="base">
              <a:buClr>
                <a:schemeClr val="accent1"/>
              </a:buClr>
              <a:buSzPts val="2400"/>
              <a:buFont typeface="Arial" pitchFamily="34" charset="0"/>
              <a:buChar char="•"/>
              <a:defRPr/>
            </a:pPr>
            <a:endParaRPr lang="en-GB" sz="2400" dirty="0"/>
          </a:p>
          <a:p>
            <a:pPr marL="355600" lvl="1" indent="-290513" algn="just" fontAlgn="base">
              <a:buClr>
                <a:schemeClr val="accent1"/>
              </a:buClr>
              <a:buSzPts val="2400"/>
              <a:buFont typeface="Arial" pitchFamily="34" charset="0"/>
              <a:buChar char="•"/>
              <a:defRPr/>
            </a:pPr>
            <a:r>
              <a:rPr lang="en-GB" sz="2400" dirty="0"/>
              <a:t>Unintended benefits (positive or negative)</a:t>
            </a:r>
          </a:p>
        </p:txBody>
      </p:sp>
      <p:sp>
        <p:nvSpPr>
          <p:cNvPr id="53250" name="AutoShape 2" descr="Image result for if you fail to plan you plan to fail quo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252" name="AutoShape 4" descr="Image result for if you fail to plan you plan to fail quo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254" name="AutoShape 6" descr="Image result for if you fail to plan you plan to fail quo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Google Shape;208;p17"/>
          <p:cNvSpPr txBox="1">
            <a:spLocks/>
          </p:cNvSpPr>
          <p:nvPr/>
        </p:nvSpPr>
        <p:spPr>
          <a:xfrm>
            <a:off x="-1" y="1094995"/>
            <a:ext cx="8922619" cy="730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522288" lvl="1" indent="-457200" algn="just">
              <a:spcBef>
                <a:spcPts val="1200"/>
              </a:spcBef>
              <a:buClr>
                <a:schemeClr val="accent1"/>
              </a:buClr>
              <a:buSzPts val="2400"/>
              <a:defRPr/>
            </a:pPr>
            <a: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1" i="1" dirty="0">
                <a:solidFill>
                  <a:schemeClr val="dk1"/>
                </a:solidFill>
              </a:rPr>
              <a:t>. Performance of Technology versus anticipated needs</a:t>
            </a:r>
            <a:endParaRPr kumimoji="0" lang="en-US" sz="2400" b="1" i="1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65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0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Verdana"/>
              <a:buNone/>
            </a:pPr>
            <a:r>
              <a:rPr lang="en-US" sz="3600" b="1" i="0" u="none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Selecting ICT4D Design </a:t>
            </a:r>
            <a:r>
              <a:rPr lang="en-US" sz="3600" b="1" i="0" u="none" dirty="0" err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Appr</a:t>
            </a:r>
            <a:r>
              <a:rPr lang="en-US" sz="3600" b="1" i="0" u="none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 dirty="0"/>
          </a:p>
        </p:txBody>
      </p:sp>
      <p:sp>
        <p:nvSpPr>
          <p:cNvPr id="15" name="Google Shape;208;p17"/>
          <p:cNvSpPr txBox="1">
            <a:spLocks/>
          </p:cNvSpPr>
          <p:nvPr/>
        </p:nvSpPr>
        <p:spPr>
          <a:xfrm>
            <a:off x="221381" y="4423732"/>
            <a:ext cx="8922619" cy="730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522288" lvl="1" indent="-457200" algn="just">
              <a:spcBef>
                <a:spcPts val="1200"/>
              </a:spcBef>
              <a:buClr>
                <a:schemeClr val="accent1"/>
              </a:buClr>
              <a:buSzPts val="2400"/>
              <a:defRPr/>
            </a:pPr>
            <a: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b="1" i="1" dirty="0">
                <a:solidFill>
                  <a:schemeClr val="dk1"/>
                </a:solidFill>
              </a:rPr>
              <a:t>. Others – </a:t>
            </a:r>
            <a:r>
              <a:rPr lang="en-US" sz="2400" b="1" i="1">
                <a:solidFill>
                  <a:schemeClr val="dk1"/>
                </a:solidFill>
              </a:rPr>
              <a:t>please read</a:t>
            </a:r>
            <a:endParaRPr kumimoji="0" lang="en-US" sz="2400" b="1" i="1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56"/>
          <p:cNvSpPr txBox="1"/>
          <p:nvPr/>
        </p:nvSpPr>
        <p:spPr>
          <a:xfrm>
            <a:off x="3124200" y="5461000"/>
            <a:ext cx="2133600" cy="19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Verdana"/>
                <a:buNone/>
              </a:pPr>
              <a:t>44</a:t>
            </a:fld>
            <a:endParaRPr/>
          </a:p>
        </p:txBody>
      </p:sp>
      <p:sp>
        <p:nvSpPr>
          <p:cNvPr id="545" name="Google Shape;545;p56"/>
          <p:cNvSpPr/>
          <p:nvPr/>
        </p:nvSpPr>
        <p:spPr>
          <a:xfrm>
            <a:off x="1992088" y="2472779"/>
            <a:ext cx="5018313" cy="14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175"/>
              </a:buClr>
              <a:buSzPts val="9100"/>
              <a:buFont typeface="Verdana"/>
              <a:buNone/>
            </a:pPr>
            <a:r>
              <a:rPr lang="en-US" sz="9100" b="1" i="0" u="none" strike="noStrike" cap="none">
                <a:solidFill>
                  <a:srgbClr val="004175"/>
                </a:solidFill>
                <a:latin typeface="Verdana"/>
                <a:ea typeface="Verdana"/>
                <a:cs typeface="Verdana"/>
                <a:sym typeface="Verdana"/>
              </a:rPr>
              <a:t>PAUSE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57"/>
          <p:cNvSpPr txBox="1"/>
          <p:nvPr/>
        </p:nvSpPr>
        <p:spPr>
          <a:xfrm>
            <a:off x="3124200" y="5461000"/>
            <a:ext cx="2133600" cy="195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Verdana"/>
                <a:buNone/>
              </a:pPr>
              <a:t>45</a:t>
            </a:fld>
            <a:endParaRPr/>
          </a:p>
        </p:txBody>
      </p:sp>
      <p:sp>
        <p:nvSpPr>
          <p:cNvPr id="551" name="Google Shape;551;p57"/>
          <p:cNvSpPr/>
          <p:nvPr/>
        </p:nvSpPr>
        <p:spPr>
          <a:xfrm>
            <a:off x="1992088" y="2472781"/>
            <a:ext cx="5018313" cy="28967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5" tIns="47525" rIns="95075" bIns="475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175"/>
              </a:buClr>
              <a:buSzPts val="9100"/>
              <a:buFont typeface="Verdana"/>
              <a:buNone/>
            </a:pPr>
            <a:r>
              <a:rPr lang="en-US" sz="9100" b="1" i="0" u="none" strike="noStrike" cap="none">
                <a:solidFill>
                  <a:srgbClr val="004175"/>
                </a:solidFill>
                <a:latin typeface="Verdana"/>
                <a:ea typeface="Verdana"/>
                <a:cs typeface="Verdana"/>
                <a:sym typeface="Verdana"/>
              </a:rPr>
              <a:t>THE END</a:t>
            </a:r>
            <a:endParaRPr/>
          </a:p>
        </p:txBody>
      </p:sp>
      <p:sp>
        <p:nvSpPr>
          <p:cNvPr id="552" name="Google Shape;552;p57"/>
          <p:cNvSpPr txBox="1"/>
          <p:nvPr/>
        </p:nvSpPr>
        <p:spPr>
          <a:xfrm>
            <a:off x="6273800" y="4711700"/>
            <a:ext cx="28702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None/>
            </a:pPr>
            <a:r>
              <a:rPr lang="en-US" sz="2800" b="0" i="0" u="sng" dirty="0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3"/>
              </a:rPr>
              <a:t>To Lecture </a:t>
            </a:r>
            <a:r>
              <a:rPr lang="en-US" sz="2800" b="0" i="0" u="sng" dirty="0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Theme1">
  <a:themeElements>
    <a:clrScheme name="sample 2">
      <a:dk1>
        <a:srgbClr val="19426B"/>
      </a:dk1>
      <a:lt1>
        <a:srgbClr val="FFFFFF"/>
      </a:lt1>
      <a:dk2>
        <a:srgbClr val="008080"/>
      </a:dk2>
      <a:lt2>
        <a:srgbClr val="B2B2B2"/>
      </a:lt2>
      <a:accent1>
        <a:srgbClr val="35C9C2"/>
      </a:accent1>
      <a:accent2>
        <a:srgbClr val="398AC7"/>
      </a:accent2>
      <a:accent3>
        <a:srgbClr val="FFFFFF"/>
      </a:accent3>
      <a:accent4>
        <a:srgbClr val="14375A"/>
      </a:accent4>
      <a:accent5>
        <a:srgbClr val="AEE1DD"/>
      </a:accent5>
      <a:accent6>
        <a:srgbClr val="337DB4"/>
      </a:accent6>
      <a:hlink>
        <a:srgbClr val="8BBC00"/>
      </a:hlink>
      <a:folHlink>
        <a:srgbClr val="6D50C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3469</TotalTime>
  <Words>1769</Words>
  <Application>Microsoft Office PowerPoint</Application>
  <PresentationFormat>On-screen Show (16:10)</PresentationFormat>
  <Paragraphs>328</Paragraphs>
  <Slides>45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2" baseType="lpstr">
      <vt:lpstr>Courier New</vt:lpstr>
      <vt:lpstr>Noto Sans Symbols</vt:lpstr>
      <vt:lpstr>Arial</vt:lpstr>
      <vt:lpstr>Verdana</vt:lpstr>
      <vt:lpstr>Calibri</vt:lpstr>
      <vt:lpstr>Wingdings</vt:lpstr>
      <vt:lpstr>2_Theme1</vt:lpstr>
      <vt:lpstr>PowerPoint Presentation</vt:lpstr>
      <vt:lpstr>Contents</vt:lpstr>
      <vt:lpstr>PowerPoint Presentation</vt:lpstr>
      <vt:lpstr>Recap: Overview</vt:lpstr>
      <vt:lpstr>Recap: ICT4D Strategy</vt:lpstr>
      <vt:lpstr>Recap: ICT4D Projects</vt:lpstr>
      <vt:lpstr>Recap: ICT4D Projects…</vt:lpstr>
      <vt:lpstr>Recap: ICT4D Projects…</vt:lpstr>
      <vt:lpstr>Recap: ICT4D Projects…</vt:lpstr>
      <vt:lpstr>ICT4D Projects…</vt:lpstr>
      <vt:lpstr>Recap: Design – Reality Gap</vt:lpstr>
      <vt:lpstr>Recap: Design – Reality Gap…</vt:lpstr>
      <vt:lpstr>Recap: Design – Reality Gap…</vt:lpstr>
      <vt:lpstr>Closing the Gap</vt:lpstr>
      <vt:lpstr>PowerPoint Presentation</vt:lpstr>
      <vt:lpstr>PowerPoint Presentation</vt:lpstr>
      <vt:lpstr>Introduction</vt:lpstr>
      <vt:lpstr>Introduction…</vt:lpstr>
      <vt:lpstr>Introduction…</vt:lpstr>
      <vt:lpstr>Introduction…</vt:lpstr>
      <vt:lpstr>Introduction</vt:lpstr>
      <vt:lpstr>PowerPoint Presentation</vt:lpstr>
      <vt:lpstr>Categories ICT4D Design Appr.</vt:lpstr>
      <vt:lpstr>Categories ICT4D Design Appr…</vt:lpstr>
      <vt:lpstr>Categories ICT4D Design Appr…</vt:lpstr>
      <vt:lpstr>Categories ICT4D Design Appr…</vt:lpstr>
      <vt:lpstr>Categories ICT4D Design Appr…</vt:lpstr>
      <vt:lpstr>Categories ICT4D Design Appr…</vt:lpstr>
      <vt:lpstr>PowerPoint Presentation</vt:lpstr>
      <vt:lpstr>ICT4D Design Approaches</vt:lpstr>
      <vt:lpstr>ICT4D Design Approaches…</vt:lpstr>
      <vt:lpstr>ICT4D Design Approaches…</vt:lpstr>
      <vt:lpstr>ICT4D Design Approaches…</vt:lpstr>
      <vt:lpstr>ICT4D Design Approaches…</vt:lpstr>
      <vt:lpstr>ICT4D Design Approaches…</vt:lpstr>
      <vt:lpstr>ICT4D Design Approaches…</vt:lpstr>
      <vt:lpstr>ICT4D Design Approaches…</vt:lpstr>
      <vt:lpstr>ICT4D Design Approaches…</vt:lpstr>
      <vt:lpstr>ICT4D Design Approaches…</vt:lpstr>
      <vt:lpstr>PowerPoint Presentation</vt:lpstr>
      <vt:lpstr>Selecting ICT4D Design Appr.</vt:lpstr>
      <vt:lpstr>Selecting ICT4D Design Appr…</vt:lpstr>
      <vt:lpstr>Selecting ICT4D Design Appr…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Head TCN</dc:creator>
  <cp:lastModifiedBy>USER</cp:lastModifiedBy>
  <cp:revision>339</cp:revision>
  <dcterms:modified xsi:type="dcterms:W3CDTF">2024-01-30T22:08:29Z</dcterms:modified>
</cp:coreProperties>
</file>